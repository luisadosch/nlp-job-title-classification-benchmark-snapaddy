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0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803" r:id="rId5"/>
    <p:sldId id="808" r:id="rId6"/>
    <p:sldId id="807" r:id="rId7"/>
    <p:sldId id="809" r:id="rId8"/>
    <p:sldId id="810" r:id="rId9"/>
    <p:sldId id="806" r:id="rId10"/>
    <p:sldId id="811" r:id="rId11"/>
    <p:sldId id="768" r:id="rId12"/>
  </p:sldIdLst>
  <p:sldSz cx="12192000" cy="6858000"/>
  <p:notesSz cx="9926638" cy="6797675"/>
  <p:custDataLst>
    <p:tags r:id="rId15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A14587E-DA3B-9DA3-FA48-6CF4919C0071}" name="Moritz Beck" initials="MB" userId="S::moritz.beck1@uni-wuerzburg.de::a15b9d9b-3c98-4a94-b7c4-1d7f0a6662b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4389"/>
    <a:srgbClr val="BAB9B9"/>
    <a:srgbClr val="CCDAE8"/>
    <a:srgbClr val="E2DEC9"/>
    <a:srgbClr val="D9DADC"/>
    <a:srgbClr val="F39100"/>
    <a:srgbClr val="0052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C921E6-492C-6EFA-63DD-6B414DACDA9A}" v="36" dt="2026-01-30T12:20:28.6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701" autoAdjust="0"/>
    <p:restoredTop sz="62856" autoAdjust="0"/>
  </p:normalViewPr>
  <p:slideViewPr>
    <p:cSldViewPr snapToGrid="0">
      <p:cViewPr varScale="1">
        <p:scale>
          <a:sx n="102" d="100"/>
          <a:sy n="102" d="100"/>
        </p:scale>
        <p:origin x="2920" y="192"/>
      </p:cViewPr>
      <p:guideLst/>
    </p:cSldViewPr>
  </p:slideViewPr>
  <p:outlineViewPr>
    <p:cViewPr>
      <p:scale>
        <a:sx n="33" d="100"/>
        <a:sy n="33" d="100"/>
      </p:scale>
      <p:origin x="0" y="-127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504"/>
    </p:cViewPr>
  </p:sorterViewPr>
  <p:notesViewPr>
    <p:cSldViewPr snapToGrid="0">
      <p:cViewPr>
        <p:scale>
          <a:sx n="66" d="100"/>
          <a:sy n="66" d="100"/>
        </p:scale>
        <p:origin x="4008" y="1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Relationship Id="rId22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BC6370-C5F0-234B-BD32-ED8BBC1DD1BE}" type="doc">
      <dgm:prSet loTypeId="urn:microsoft.com/office/officeart/2008/layout/VerticalCurved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6CB4EECC-9A5D-FD43-B6D4-2D1CC8784F88}">
      <dgm:prSet phldrT="[Text]"/>
      <dgm:spPr/>
      <dgm:t>
        <a:bodyPr/>
        <a:lstStyle/>
        <a:p>
          <a:r>
            <a:rPr lang="de-DE" dirty="0"/>
            <a:t>Baseline</a:t>
          </a:r>
        </a:p>
      </dgm:t>
    </dgm:pt>
    <dgm:pt modelId="{A8D8D2E7-0B4D-9947-99BD-4FF391CEC6AB}" type="parTrans" cxnId="{DC02A2AC-95C3-2C49-9E03-2BF882DAA9A9}">
      <dgm:prSet/>
      <dgm:spPr/>
      <dgm:t>
        <a:bodyPr/>
        <a:lstStyle/>
        <a:p>
          <a:endParaRPr lang="de-DE"/>
        </a:p>
      </dgm:t>
    </dgm:pt>
    <dgm:pt modelId="{F3D1AA40-5FD4-A740-B099-F37D7718693F}" type="sibTrans" cxnId="{DC02A2AC-95C3-2C49-9E03-2BF882DAA9A9}">
      <dgm:prSet/>
      <dgm:spPr/>
      <dgm:t>
        <a:bodyPr/>
        <a:lstStyle/>
        <a:p>
          <a:endParaRPr lang="de-DE"/>
        </a:p>
      </dgm:t>
    </dgm:pt>
    <dgm:pt modelId="{A0C4EB55-A644-6D4C-8EF1-913DA2C4C052}">
      <dgm:prSet phldrT="[Text]"/>
      <dgm:spPr/>
      <dgm:t>
        <a:bodyPr/>
        <a:lstStyle/>
        <a:p>
          <a:r>
            <a:rPr lang="de-DE" dirty="0"/>
            <a:t>Prompt Engineering </a:t>
          </a:r>
        </a:p>
      </dgm:t>
    </dgm:pt>
    <dgm:pt modelId="{27E4787F-08F1-BD4D-8B8E-DAA3B8E89621}" type="parTrans" cxnId="{D7E46894-5ACF-F946-A471-C6A528A0B912}">
      <dgm:prSet/>
      <dgm:spPr/>
      <dgm:t>
        <a:bodyPr/>
        <a:lstStyle/>
        <a:p>
          <a:endParaRPr lang="de-DE"/>
        </a:p>
      </dgm:t>
    </dgm:pt>
    <dgm:pt modelId="{C73FE828-9030-DB48-BCDD-203D0D9F1877}" type="sibTrans" cxnId="{D7E46894-5ACF-F946-A471-C6A528A0B912}">
      <dgm:prSet/>
      <dgm:spPr/>
      <dgm:t>
        <a:bodyPr/>
        <a:lstStyle/>
        <a:p>
          <a:endParaRPr lang="de-DE"/>
        </a:p>
      </dgm:t>
    </dgm:pt>
    <dgm:pt modelId="{EB1A83E2-DA71-7243-B25E-1B481F2168B4}">
      <dgm:prSet phldrT="[Text]"/>
      <dgm:spPr/>
      <dgm:t>
        <a:bodyPr/>
        <a:lstStyle/>
        <a:p>
          <a:r>
            <a:rPr lang="de-DE" dirty="0"/>
            <a:t>Bag </a:t>
          </a:r>
          <a:r>
            <a:rPr lang="de-DE" dirty="0" err="1"/>
            <a:t>of</a:t>
          </a:r>
          <a:r>
            <a:rPr lang="de-DE" dirty="0"/>
            <a:t> Words/TF-IDF &amp; </a:t>
          </a:r>
          <a:r>
            <a:rPr lang="de-DE" dirty="0" err="1"/>
            <a:t>Logistic</a:t>
          </a:r>
          <a:r>
            <a:rPr lang="de-DE" dirty="0"/>
            <a:t> Regression</a:t>
          </a:r>
        </a:p>
      </dgm:t>
    </dgm:pt>
    <dgm:pt modelId="{EBE61992-8E15-E345-95D1-3BA1F261C208}" type="parTrans" cxnId="{9A21A424-819E-264D-8982-36E34F712D48}">
      <dgm:prSet/>
      <dgm:spPr/>
      <dgm:t>
        <a:bodyPr/>
        <a:lstStyle/>
        <a:p>
          <a:endParaRPr lang="de-DE"/>
        </a:p>
      </dgm:t>
    </dgm:pt>
    <dgm:pt modelId="{A1B53BFB-D47A-8940-9317-139FD36DE3CA}" type="sibTrans" cxnId="{9A21A424-819E-264D-8982-36E34F712D48}">
      <dgm:prSet/>
      <dgm:spPr/>
      <dgm:t>
        <a:bodyPr/>
        <a:lstStyle/>
        <a:p>
          <a:endParaRPr lang="de-DE"/>
        </a:p>
      </dgm:t>
    </dgm:pt>
    <dgm:pt modelId="{713F3882-2E39-A34A-AEE0-37A5F4CF4E13}">
      <dgm:prSet phldrT="[Text]"/>
      <dgm:spPr/>
      <dgm:t>
        <a:bodyPr/>
        <a:lstStyle/>
        <a:p>
          <a:r>
            <a:rPr lang="de-DE" dirty="0"/>
            <a:t>Fine Tuning </a:t>
          </a:r>
          <a:r>
            <a:rPr lang="de-DE" dirty="0" err="1"/>
            <a:t>of</a:t>
          </a:r>
          <a:r>
            <a:rPr lang="de-DE" dirty="0"/>
            <a:t> </a:t>
          </a:r>
          <a:r>
            <a:rPr lang="de-DE" dirty="0" err="1"/>
            <a:t>Huggingface</a:t>
          </a:r>
          <a:r>
            <a:rPr lang="de-DE" dirty="0"/>
            <a:t> Transformer Model</a:t>
          </a:r>
        </a:p>
      </dgm:t>
    </dgm:pt>
    <dgm:pt modelId="{6292DA86-1AB2-D34C-A87E-0CB1340FE65A}" type="parTrans" cxnId="{745A3BF0-08E1-9240-BBEE-4EF8B45F93B1}">
      <dgm:prSet/>
      <dgm:spPr/>
      <dgm:t>
        <a:bodyPr/>
        <a:lstStyle/>
        <a:p>
          <a:endParaRPr lang="de-DE"/>
        </a:p>
      </dgm:t>
    </dgm:pt>
    <dgm:pt modelId="{E17E0429-A0C0-D843-869E-FC5600D58B65}" type="sibTrans" cxnId="{745A3BF0-08E1-9240-BBEE-4EF8B45F93B1}">
      <dgm:prSet/>
      <dgm:spPr/>
      <dgm:t>
        <a:bodyPr/>
        <a:lstStyle/>
        <a:p>
          <a:endParaRPr lang="de-DE"/>
        </a:p>
      </dgm:t>
    </dgm:pt>
    <dgm:pt modelId="{40197936-A2CE-7947-8A90-4E5FD629C40B}">
      <dgm:prSet phldrT="[Text]"/>
      <dgm:spPr/>
      <dgm:t>
        <a:bodyPr/>
        <a:lstStyle/>
        <a:p>
          <a:r>
            <a:rPr lang="de-DE" dirty="0"/>
            <a:t>Embedding </a:t>
          </a:r>
          <a:r>
            <a:rPr lang="de-DE" dirty="0" err="1"/>
            <a:t>Based</a:t>
          </a:r>
          <a:r>
            <a:rPr lang="de-DE" dirty="0"/>
            <a:t> </a:t>
          </a:r>
          <a:r>
            <a:rPr lang="de-DE" dirty="0" err="1"/>
            <a:t>Labeling</a:t>
          </a:r>
          <a:endParaRPr lang="de-DE" dirty="0"/>
        </a:p>
      </dgm:t>
    </dgm:pt>
    <dgm:pt modelId="{EF95F5BB-E18A-D449-8FE3-CBC0FDCD9397}" type="parTrans" cxnId="{9D46386C-8453-8D43-B89F-CD4CD88AE868}">
      <dgm:prSet/>
      <dgm:spPr/>
      <dgm:t>
        <a:bodyPr/>
        <a:lstStyle/>
        <a:p>
          <a:endParaRPr lang="de-DE"/>
        </a:p>
      </dgm:t>
    </dgm:pt>
    <dgm:pt modelId="{1A56643A-A476-0B4C-A600-43672A6C65F3}" type="sibTrans" cxnId="{9D46386C-8453-8D43-B89F-CD4CD88AE868}">
      <dgm:prSet/>
      <dgm:spPr/>
      <dgm:t>
        <a:bodyPr/>
        <a:lstStyle/>
        <a:p>
          <a:endParaRPr lang="de-DE"/>
        </a:p>
      </dgm:t>
    </dgm:pt>
    <dgm:pt modelId="{5B529D77-B0CD-6647-AF50-9B507E79B137}" type="pres">
      <dgm:prSet presAssocID="{31BC6370-C5F0-234B-BD32-ED8BBC1DD1BE}" presName="Name0" presStyleCnt="0">
        <dgm:presLayoutVars>
          <dgm:chMax val="7"/>
          <dgm:chPref val="7"/>
          <dgm:dir/>
        </dgm:presLayoutVars>
      </dgm:prSet>
      <dgm:spPr/>
    </dgm:pt>
    <dgm:pt modelId="{8258BA5F-8F0A-624E-A70E-42BF6380CAE0}" type="pres">
      <dgm:prSet presAssocID="{31BC6370-C5F0-234B-BD32-ED8BBC1DD1BE}" presName="Name1" presStyleCnt="0"/>
      <dgm:spPr/>
    </dgm:pt>
    <dgm:pt modelId="{B1AFE352-7E12-3F4E-B5B0-459C33D727B8}" type="pres">
      <dgm:prSet presAssocID="{31BC6370-C5F0-234B-BD32-ED8BBC1DD1BE}" presName="cycle" presStyleCnt="0"/>
      <dgm:spPr/>
    </dgm:pt>
    <dgm:pt modelId="{9D3CFA60-0C9B-F24C-8089-66AD1CDEC0C0}" type="pres">
      <dgm:prSet presAssocID="{31BC6370-C5F0-234B-BD32-ED8BBC1DD1BE}" presName="srcNode" presStyleLbl="node1" presStyleIdx="0" presStyleCnt="5"/>
      <dgm:spPr/>
    </dgm:pt>
    <dgm:pt modelId="{4890F7CA-FAE6-F941-AE69-85DC10815B37}" type="pres">
      <dgm:prSet presAssocID="{31BC6370-C5F0-234B-BD32-ED8BBC1DD1BE}" presName="conn" presStyleLbl="parChTrans1D2" presStyleIdx="0" presStyleCnt="1"/>
      <dgm:spPr/>
    </dgm:pt>
    <dgm:pt modelId="{F356177E-7101-B941-9763-81F4BD0932F2}" type="pres">
      <dgm:prSet presAssocID="{31BC6370-C5F0-234B-BD32-ED8BBC1DD1BE}" presName="extraNode" presStyleLbl="node1" presStyleIdx="0" presStyleCnt="5"/>
      <dgm:spPr/>
    </dgm:pt>
    <dgm:pt modelId="{458A5595-F1E7-2D4B-8966-A184E6485E6A}" type="pres">
      <dgm:prSet presAssocID="{31BC6370-C5F0-234B-BD32-ED8BBC1DD1BE}" presName="dstNode" presStyleLbl="node1" presStyleIdx="0" presStyleCnt="5"/>
      <dgm:spPr/>
    </dgm:pt>
    <dgm:pt modelId="{DE9B7004-27F4-2243-8F56-D1887A4A0AFB}" type="pres">
      <dgm:prSet presAssocID="{6CB4EECC-9A5D-FD43-B6D4-2D1CC8784F88}" presName="text_1" presStyleLbl="node1" presStyleIdx="0" presStyleCnt="5">
        <dgm:presLayoutVars>
          <dgm:bulletEnabled val="1"/>
        </dgm:presLayoutVars>
      </dgm:prSet>
      <dgm:spPr/>
    </dgm:pt>
    <dgm:pt modelId="{6648C83A-7E09-7E43-BA99-80F58868BD7B}" type="pres">
      <dgm:prSet presAssocID="{6CB4EECC-9A5D-FD43-B6D4-2D1CC8784F88}" presName="accent_1" presStyleCnt="0"/>
      <dgm:spPr/>
    </dgm:pt>
    <dgm:pt modelId="{91D5215D-057D-414F-BC28-16A53A636A3F}" type="pres">
      <dgm:prSet presAssocID="{6CB4EECC-9A5D-FD43-B6D4-2D1CC8784F88}" presName="accentRepeatNode" presStyleLbl="solidFgAcc1" presStyleIdx="0" presStyleCnt="5"/>
      <dgm:spPr/>
    </dgm:pt>
    <dgm:pt modelId="{6E1FDE3B-72B3-3245-96FE-3745517A202E}" type="pres">
      <dgm:prSet presAssocID="{A0C4EB55-A644-6D4C-8EF1-913DA2C4C052}" presName="text_2" presStyleLbl="node1" presStyleIdx="1" presStyleCnt="5">
        <dgm:presLayoutVars>
          <dgm:bulletEnabled val="1"/>
        </dgm:presLayoutVars>
      </dgm:prSet>
      <dgm:spPr/>
    </dgm:pt>
    <dgm:pt modelId="{5F6491D1-0CE2-CA47-8866-9C4DDDE1C5BC}" type="pres">
      <dgm:prSet presAssocID="{A0C4EB55-A644-6D4C-8EF1-913DA2C4C052}" presName="accent_2" presStyleCnt="0"/>
      <dgm:spPr/>
    </dgm:pt>
    <dgm:pt modelId="{DDA01849-56C1-F240-BC5F-1048C6A717AB}" type="pres">
      <dgm:prSet presAssocID="{A0C4EB55-A644-6D4C-8EF1-913DA2C4C052}" presName="accentRepeatNode" presStyleLbl="solidFgAcc1" presStyleIdx="1" presStyleCnt="5"/>
      <dgm:spPr/>
    </dgm:pt>
    <dgm:pt modelId="{47C4E3E8-D376-CB4F-9B66-7B87F9409C2B}" type="pres">
      <dgm:prSet presAssocID="{EB1A83E2-DA71-7243-B25E-1B481F2168B4}" presName="text_3" presStyleLbl="node1" presStyleIdx="2" presStyleCnt="5">
        <dgm:presLayoutVars>
          <dgm:bulletEnabled val="1"/>
        </dgm:presLayoutVars>
      </dgm:prSet>
      <dgm:spPr/>
    </dgm:pt>
    <dgm:pt modelId="{ECFECF97-9948-E44C-8047-95873563E44D}" type="pres">
      <dgm:prSet presAssocID="{EB1A83E2-DA71-7243-B25E-1B481F2168B4}" presName="accent_3" presStyleCnt="0"/>
      <dgm:spPr/>
    </dgm:pt>
    <dgm:pt modelId="{A1BF12CE-0B6D-154D-AD6B-D053E3DD2D4E}" type="pres">
      <dgm:prSet presAssocID="{EB1A83E2-DA71-7243-B25E-1B481F2168B4}" presName="accentRepeatNode" presStyleLbl="solidFgAcc1" presStyleIdx="2" presStyleCnt="5"/>
      <dgm:spPr/>
    </dgm:pt>
    <dgm:pt modelId="{B911A168-4FC8-054D-9052-6F3BF1946660}" type="pres">
      <dgm:prSet presAssocID="{713F3882-2E39-A34A-AEE0-37A5F4CF4E13}" presName="text_4" presStyleLbl="node1" presStyleIdx="3" presStyleCnt="5">
        <dgm:presLayoutVars>
          <dgm:bulletEnabled val="1"/>
        </dgm:presLayoutVars>
      </dgm:prSet>
      <dgm:spPr/>
    </dgm:pt>
    <dgm:pt modelId="{46D8399C-87E7-D74A-A23F-E44EEF058453}" type="pres">
      <dgm:prSet presAssocID="{713F3882-2E39-A34A-AEE0-37A5F4CF4E13}" presName="accent_4" presStyleCnt="0"/>
      <dgm:spPr/>
    </dgm:pt>
    <dgm:pt modelId="{D327FDE1-4598-4842-A3FF-7BDCD427D57E}" type="pres">
      <dgm:prSet presAssocID="{713F3882-2E39-A34A-AEE0-37A5F4CF4E13}" presName="accentRepeatNode" presStyleLbl="solidFgAcc1" presStyleIdx="3" presStyleCnt="5"/>
      <dgm:spPr/>
    </dgm:pt>
    <dgm:pt modelId="{0A96E322-FFC5-364F-9B66-C45470F824E0}" type="pres">
      <dgm:prSet presAssocID="{40197936-A2CE-7947-8A90-4E5FD629C40B}" presName="text_5" presStyleLbl="node1" presStyleIdx="4" presStyleCnt="5">
        <dgm:presLayoutVars>
          <dgm:bulletEnabled val="1"/>
        </dgm:presLayoutVars>
      </dgm:prSet>
      <dgm:spPr/>
    </dgm:pt>
    <dgm:pt modelId="{6A3A62BF-887A-7042-A5D9-150DE6819A21}" type="pres">
      <dgm:prSet presAssocID="{40197936-A2CE-7947-8A90-4E5FD629C40B}" presName="accent_5" presStyleCnt="0"/>
      <dgm:spPr/>
    </dgm:pt>
    <dgm:pt modelId="{3F4FFFE4-5FC1-954D-8515-2646B7827E8C}" type="pres">
      <dgm:prSet presAssocID="{40197936-A2CE-7947-8A90-4E5FD629C40B}" presName="accentRepeatNode" presStyleLbl="solidFgAcc1" presStyleIdx="4" presStyleCnt="5"/>
      <dgm:spPr/>
    </dgm:pt>
  </dgm:ptLst>
  <dgm:cxnLst>
    <dgm:cxn modelId="{9A21A424-819E-264D-8982-36E34F712D48}" srcId="{31BC6370-C5F0-234B-BD32-ED8BBC1DD1BE}" destId="{EB1A83E2-DA71-7243-B25E-1B481F2168B4}" srcOrd="2" destOrd="0" parTransId="{EBE61992-8E15-E345-95D1-3BA1F261C208}" sibTransId="{A1B53BFB-D47A-8940-9317-139FD36DE3CA}"/>
    <dgm:cxn modelId="{D831844D-416C-2248-B31E-752C21D015CC}" type="presOf" srcId="{F3D1AA40-5FD4-A740-B099-F37D7718693F}" destId="{4890F7CA-FAE6-F941-AE69-85DC10815B37}" srcOrd="0" destOrd="0" presId="urn:microsoft.com/office/officeart/2008/layout/VerticalCurvedList"/>
    <dgm:cxn modelId="{BC296451-734D-774F-9C03-BDCFE0688CC5}" type="presOf" srcId="{40197936-A2CE-7947-8A90-4E5FD629C40B}" destId="{0A96E322-FFC5-364F-9B66-C45470F824E0}" srcOrd="0" destOrd="0" presId="urn:microsoft.com/office/officeart/2008/layout/VerticalCurvedList"/>
    <dgm:cxn modelId="{7CA72F58-EF97-E84A-89A0-C79B1BD19C02}" type="presOf" srcId="{31BC6370-C5F0-234B-BD32-ED8BBC1DD1BE}" destId="{5B529D77-B0CD-6647-AF50-9B507E79B137}" srcOrd="0" destOrd="0" presId="urn:microsoft.com/office/officeart/2008/layout/VerticalCurvedList"/>
    <dgm:cxn modelId="{40FF8D6A-A702-C748-A4F0-CEC709BBBBE5}" type="presOf" srcId="{6CB4EECC-9A5D-FD43-B6D4-2D1CC8784F88}" destId="{DE9B7004-27F4-2243-8F56-D1887A4A0AFB}" srcOrd="0" destOrd="0" presId="urn:microsoft.com/office/officeart/2008/layout/VerticalCurvedList"/>
    <dgm:cxn modelId="{9D46386C-8453-8D43-B89F-CD4CD88AE868}" srcId="{31BC6370-C5F0-234B-BD32-ED8BBC1DD1BE}" destId="{40197936-A2CE-7947-8A90-4E5FD629C40B}" srcOrd="4" destOrd="0" parTransId="{EF95F5BB-E18A-D449-8FE3-CBC0FDCD9397}" sibTransId="{1A56643A-A476-0B4C-A600-43672A6C65F3}"/>
    <dgm:cxn modelId="{D7E46894-5ACF-F946-A471-C6A528A0B912}" srcId="{31BC6370-C5F0-234B-BD32-ED8BBC1DD1BE}" destId="{A0C4EB55-A644-6D4C-8EF1-913DA2C4C052}" srcOrd="1" destOrd="0" parTransId="{27E4787F-08F1-BD4D-8B8E-DAA3B8E89621}" sibTransId="{C73FE828-9030-DB48-BCDD-203D0D9F1877}"/>
    <dgm:cxn modelId="{DC02A2AC-95C3-2C49-9E03-2BF882DAA9A9}" srcId="{31BC6370-C5F0-234B-BD32-ED8BBC1DD1BE}" destId="{6CB4EECC-9A5D-FD43-B6D4-2D1CC8784F88}" srcOrd="0" destOrd="0" parTransId="{A8D8D2E7-0B4D-9947-99BD-4FF391CEC6AB}" sibTransId="{F3D1AA40-5FD4-A740-B099-F37D7718693F}"/>
    <dgm:cxn modelId="{6B3A40BD-B003-AE48-8625-C881D415FABE}" type="presOf" srcId="{EB1A83E2-DA71-7243-B25E-1B481F2168B4}" destId="{47C4E3E8-D376-CB4F-9B66-7B87F9409C2B}" srcOrd="0" destOrd="0" presId="urn:microsoft.com/office/officeart/2008/layout/VerticalCurvedList"/>
    <dgm:cxn modelId="{525367C2-645C-274F-BA29-5D13914BCB7A}" type="presOf" srcId="{A0C4EB55-A644-6D4C-8EF1-913DA2C4C052}" destId="{6E1FDE3B-72B3-3245-96FE-3745517A202E}" srcOrd="0" destOrd="0" presId="urn:microsoft.com/office/officeart/2008/layout/VerticalCurvedList"/>
    <dgm:cxn modelId="{0E1579C9-6E26-E540-B6BE-0C2CE5D2FA57}" type="presOf" srcId="{713F3882-2E39-A34A-AEE0-37A5F4CF4E13}" destId="{B911A168-4FC8-054D-9052-6F3BF1946660}" srcOrd="0" destOrd="0" presId="urn:microsoft.com/office/officeart/2008/layout/VerticalCurvedList"/>
    <dgm:cxn modelId="{745A3BF0-08E1-9240-BBEE-4EF8B45F93B1}" srcId="{31BC6370-C5F0-234B-BD32-ED8BBC1DD1BE}" destId="{713F3882-2E39-A34A-AEE0-37A5F4CF4E13}" srcOrd="3" destOrd="0" parTransId="{6292DA86-1AB2-D34C-A87E-0CB1340FE65A}" sibTransId="{E17E0429-A0C0-D843-869E-FC5600D58B65}"/>
    <dgm:cxn modelId="{E0E87A63-8DE2-8D48-A87A-EBD618898F2A}" type="presParOf" srcId="{5B529D77-B0CD-6647-AF50-9B507E79B137}" destId="{8258BA5F-8F0A-624E-A70E-42BF6380CAE0}" srcOrd="0" destOrd="0" presId="urn:microsoft.com/office/officeart/2008/layout/VerticalCurvedList"/>
    <dgm:cxn modelId="{6D5075F2-8FBF-864D-BA00-56667C61A08C}" type="presParOf" srcId="{8258BA5F-8F0A-624E-A70E-42BF6380CAE0}" destId="{B1AFE352-7E12-3F4E-B5B0-459C33D727B8}" srcOrd="0" destOrd="0" presId="urn:microsoft.com/office/officeart/2008/layout/VerticalCurvedList"/>
    <dgm:cxn modelId="{451124AC-E806-AE4B-BE97-C037FC83E393}" type="presParOf" srcId="{B1AFE352-7E12-3F4E-B5B0-459C33D727B8}" destId="{9D3CFA60-0C9B-F24C-8089-66AD1CDEC0C0}" srcOrd="0" destOrd="0" presId="urn:microsoft.com/office/officeart/2008/layout/VerticalCurvedList"/>
    <dgm:cxn modelId="{AE168108-EC8C-484B-9C73-4608C818A4AD}" type="presParOf" srcId="{B1AFE352-7E12-3F4E-B5B0-459C33D727B8}" destId="{4890F7CA-FAE6-F941-AE69-85DC10815B37}" srcOrd="1" destOrd="0" presId="urn:microsoft.com/office/officeart/2008/layout/VerticalCurvedList"/>
    <dgm:cxn modelId="{32EC8156-A77D-384B-8184-EF02B4A721B0}" type="presParOf" srcId="{B1AFE352-7E12-3F4E-B5B0-459C33D727B8}" destId="{F356177E-7101-B941-9763-81F4BD0932F2}" srcOrd="2" destOrd="0" presId="urn:microsoft.com/office/officeart/2008/layout/VerticalCurvedList"/>
    <dgm:cxn modelId="{EADA3CB8-7990-434A-8DB9-7BC11AB86092}" type="presParOf" srcId="{B1AFE352-7E12-3F4E-B5B0-459C33D727B8}" destId="{458A5595-F1E7-2D4B-8966-A184E6485E6A}" srcOrd="3" destOrd="0" presId="urn:microsoft.com/office/officeart/2008/layout/VerticalCurvedList"/>
    <dgm:cxn modelId="{120E006A-F8FD-AE4D-8AFB-DEE99AF83CD1}" type="presParOf" srcId="{8258BA5F-8F0A-624E-A70E-42BF6380CAE0}" destId="{DE9B7004-27F4-2243-8F56-D1887A4A0AFB}" srcOrd="1" destOrd="0" presId="urn:microsoft.com/office/officeart/2008/layout/VerticalCurvedList"/>
    <dgm:cxn modelId="{300D2398-D08F-744F-8C6A-7BB296CCC572}" type="presParOf" srcId="{8258BA5F-8F0A-624E-A70E-42BF6380CAE0}" destId="{6648C83A-7E09-7E43-BA99-80F58868BD7B}" srcOrd="2" destOrd="0" presId="urn:microsoft.com/office/officeart/2008/layout/VerticalCurvedList"/>
    <dgm:cxn modelId="{C5D3889D-F8EA-2F46-804C-3815D34619CB}" type="presParOf" srcId="{6648C83A-7E09-7E43-BA99-80F58868BD7B}" destId="{91D5215D-057D-414F-BC28-16A53A636A3F}" srcOrd="0" destOrd="0" presId="urn:microsoft.com/office/officeart/2008/layout/VerticalCurvedList"/>
    <dgm:cxn modelId="{1BE00036-E562-8346-939A-A6B2248CFDC3}" type="presParOf" srcId="{8258BA5F-8F0A-624E-A70E-42BF6380CAE0}" destId="{6E1FDE3B-72B3-3245-96FE-3745517A202E}" srcOrd="3" destOrd="0" presId="urn:microsoft.com/office/officeart/2008/layout/VerticalCurvedList"/>
    <dgm:cxn modelId="{95A466D7-45B4-DE40-9B1A-1F94F637603F}" type="presParOf" srcId="{8258BA5F-8F0A-624E-A70E-42BF6380CAE0}" destId="{5F6491D1-0CE2-CA47-8866-9C4DDDE1C5BC}" srcOrd="4" destOrd="0" presId="urn:microsoft.com/office/officeart/2008/layout/VerticalCurvedList"/>
    <dgm:cxn modelId="{D45C425E-E7E6-C54B-9C58-F26561016725}" type="presParOf" srcId="{5F6491D1-0CE2-CA47-8866-9C4DDDE1C5BC}" destId="{DDA01849-56C1-F240-BC5F-1048C6A717AB}" srcOrd="0" destOrd="0" presId="urn:microsoft.com/office/officeart/2008/layout/VerticalCurvedList"/>
    <dgm:cxn modelId="{81169F81-ACC2-5441-9973-F6991574D811}" type="presParOf" srcId="{8258BA5F-8F0A-624E-A70E-42BF6380CAE0}" destId="{47C4E3E8-D376-CB4F-9B66-7B87F9409C2B}" srcOrd="5" destOrd="0" presId="urn:microsoft.com/office/officeart/2008/layout/VerticalCurvedList"/>
    <dgm:cxn modelId="{99721923-D56A-8645-A714-FD0BBA766327}" type="presParOf" srcId="{8258BA5F-8F0A-624E-A70E-42BF6380CAE0}" destId="{ECFECF97-9948-E44C-8047-95873563E44D}" srcOrd="6" destOrd="0" presId="urn:microsoft.com/office/officeart/2008/layout/VerticalCurvedList"/>
    <dgm:cxn modelId="{EA61A6CC-9E2F-0547-8DD1-FFB3CEBA155C}" type="presParOf" srcId="{ECFECF97-9948-E44C-8047-95873563E44D}" destId="{A1BF12CE-0B6D-154D-AD6B-D053E3DD2D4E}" srcOrd="0" destOrd="0" presId="urn:microsoft.com/office/officeart/2008/layout/VerticalCurvedList"/>
    <dgm:cxn modelId="{54F39716-29FA-314A-9615-B19ADEA42260}" type="presParOf" srcId="{8258BA5F-8F0A-624E-A70E-42BF6380CAE0}" destId="{B911A168-4FC8-054D-9052-6F3BF1946660}" srcOrd="7" destOrd="0" presId="urn:microsoft.com/office/officeart/2008/layout/VerticalCurvedList"/>
    <dgm:cxn modelId="{6812ACEA-16F7-B24E-8D0B-494237527A1F}" type="presParOf" srcId="{8258BA5F-8F0A-624E-A70E-42BF6380CAE0}" destId="{46D8399C-87E7-D74A-A23F-E44EEF058453}" srcOrd="8" destOrd="0" presId="urn:microsoft.com/office/officeart/2008/layout/VerticalCurvedList"/>
    <dgm:cxn modelId="{6469EE59-395B-2A45-99BA-C2230AEF7CBC}" type="presParOf" srcId="{46D8399C-87E7-D74A-A23F-E44EEF058453}" destId="{D327FDE1-4598-4842-A3FF-7BDCD427D57E}" srcOrd="0" destOrd="0" presId="urn:microsoft.com/office/officeart/2008/layout/VerticalCurvedList"/>
    <dgm:cxn modelId="{5E6A1A08-99F9-4348-846E-1F3A387F79B1}" type="presParOf" srcId="{8258BA5F-8F0A-624E-A70E-42BF6380CAE0}" destId="{0A96E322-FFC5-364F-9B66-C45470F824E0}" srcOrd="9" destOrd="0" presId="urn:microsoft.com/office/officeart/2008/layout/VerticalCurvedList"/>
    <dgm:cxn modelId="{17C43404-C785-8A4E-A491-BDF7E899DC1E}" type="presParOf" srcId="{8258BA5F-8F0A-624E-A70E-42BF6380CAE0}" destId="{6A3A62BF-887A-7042-A5D9-150DE6819A21}" srcOrd="10" destOrd="0" presId="urn:microsoft.com/office/officeart/2008/layout/VerticalCurvedList"/>
    <dgm:cxn modelId="{EA85920E-4FD6-9C47-BEE6-334B99763973}" type="presParOf" srcId="{6A3A62BF-887A-7042-A5D9-150DE6819A21}" destId="{3F4FFFE4-5FC1-954D-8515-2646B7827E8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90F7CA-FAE6-F941-AE69-85DC10815B37}">
      <dsp:nvSpPr>
        <dsp:cNvPr id="0" name=""/>
        <dsp:cNvSpPr/>
      </dsp:nvSpPr>
      <dsp:spPr>
        <a:xfrm>
          <a:off x="-3996906" y="-613582"/>
          <a:ext cx="4763112" cy="4763112"/>
        </a:xfrm>
        <a:prstGeom prst="blockArc">
          <a:avLst>
            <a:gd name="adj1" fmla="val 18900000"/>
            <a:gd name="adj2" fmla="val 2700000"/>
            <a:gd name="adj3" fmla="val 453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9B7004-27F4-2243-8F56-D1887A4A0AFB}">
      <dsp:nvSpPr>
        <dsp:cNvPr id="0" name=""/>
        <dsp:cNvSpPr/>
      </dsp:nvSpPr>
      <dsp:spPr>
        <a:xfrm>
          <a:off x="335742" y="220925"/>
          <a:ext cx="10360833" cy="442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0945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/>
            <a:t>Baseline</a:t>
          </a:r>
        </a:p>
      </dsp:txBody>
      <dsp:txXfrm>
        <a:off x="335742" y="220925"/>
        <a:ext cx="10360833" cy="442134"/>
      </dsp:txXfrm>
    </dsp:sp>
    <dsp:sp modelId="{91D5215D-057D-414F-BC28-16A53A636A3F}">
      <dsp:nvSpPr>
        <dsp:cNvPr id="0" name=""/>
        <dsp:cNvSpPr/>
      </dsp:nvSpPr>
      <dsp:spPr>
        <a:xfrm>
          <a:off x="59408" y="165659"/>
          <a:ext cx="552668" cy="55266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1FDE3B-72B3-3245-96FE-3745517A202E}">
      <dsp:nvSpPr>
        <dsp:cNvPr id="0" name=""/>
        <dsp:cNvSpPr/>
      </dsp:nvSpPr>
      <dsp:spPr>
        <a:xfrm>
          <a:off x="652563" y="883916"/>
          <a:ext cx="10044012" cy="442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0945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/>
            <a:t>Prompt Engineering </a:t>
          </a:r>
        </a:p>
      </dsp:txBody>
      <dsp:txXfrm>
        <a:off x="652563" y="883916"/>
        <a:ext cx="10044012" cy="442134"/>
      </dsp:txXfrm>
    </dsp:sp>
    <dsp:sp modelId="{DDA01849-56C1-F240-BC5F-1048C6A717AB}">
      <dsp:nvSpPr>
        <dsp:cNvPr id="0" name=""/>
        <dsp:cNvSpPr/>
      </dsp:nvSpPr>
      <dsp:spPr>
        <a:xfrm>
          <a:off x="376229" y="828649"/>
          <a:ext cx="552668" cy="55266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C4E3E8-D376-CB4F-9B66-7B87F9409C2B}">
      <dsp:nvSpPr>
        <dsp:cNvPr id="0" name=""/>
        <dsp:cNvSpPr/>
      </dsp:nvSpPr>
      <dsp:spPr>
        <a:xfrm>
          <a:off x="749802" y="1546906"/>
          <a:ext cx="9946774" cy="442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0945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/>
            <a:t>Bag </a:t>
          </a:r>
          <a:r>
            <a:rPr lang="de-DE" sz="2400" kern="1200" dirty="0" err="1"/>
            <a:t>of</a:t>
          </a:r>
          <a:r>
            <a:rPr lang="de-DE" sz="2400" kern="1200" dirty="0"/>
            <a:t> Words/TF-IDF &amp; </a:t>
          </a:r>
          <a:r>
            <a:rPr lang="de-DE" sz="2400" kern="1200" dirty="0" err="1"/>
            <a:t>Logistic</a:t>
          </a:r>
          <a:r>
            <a:rPr lang="de-DE" sz="2400" kern="1200" dirty="0"/>
            <a:t> Regression</a:t>
          </a:r>
        </a:p>
      </dsp:txBody>
      <dsp:txXfrm>
        <a:off x="749802" y="1546906"/>
        <a:ext cx="9946774" cy="442134"/>
      </dsp:txXfrm>
    </dsp:sp>
    <dsp:sp modelId="{A1BF12CE-0B6D-154D-AD6B-D053E3DD2D4E}">
      <dsp:nvSpPr>
        <dsp:cNvPr id="0" name=""/>
        <dsp:cNvSpPr/>
      </dsp:nvSpPr>
      <dsp:spPr>
        <a:xfrm>
          <a:off x="473468" y="1491639"/>
          <a:ext cx="552668" cy="55266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11A168-4FC8-054D-9052-6F3BF1946660}">
      <dsp:nvSpPr>
        <dsp:cNvPr id="0" name=""/>
        <dsp:cNvSpPr/>
      </dsp:nvSpPr>
      <dsp:spPr>
        <a:xfrm>
          <a:off x="652563" y="2209896"/>
          <a:ext cx="10044012" cy="442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0945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/>
            <a:t>Fine Tuning </a:t>
          </a:r>
          <a:r>
            <a:rPr lang="de-DE" sz="2400" kern="1200" dirty="0" err="1"/>
            <a:t>of</a:t>
          </a:r>
          <a:r>
            <a:rPr lang="de-DE" sz="2400" kern="1200" dirty="0"/>
            <a:t> </a:t>
          </a:r>
          <a:r>
            <a:rPr lang="de-DE" sz="2400" kern="1200" dirty="0" err="1"/>
            <a:t>Huggingface</a:t>
          </a:r>
          <a:r>
            <a:rPr lang="de-DE" sz="2400" kern="1200" dirty="0"/>
            <a:t> Transformer Model</a:t>
          </a:r>
        </a:p>
      </dsp:txBody>
      <dsp:txXfrm>
        <a:off x="652563" y="2209896"/>
        <a:ext cx="10044012" cy="442134"/>
      </dsp:txXfrm>
    </dsp:sp>
    <dsp:sp modelId="{D327FDE1-4598-4842-A3FF-7BDCD427D57E}">
      <dsp:nvSpPr>
        <dsp:cNvPr id="0" name=""/>
        <dsp:cNvSpPr/>
      </dsp:nvSpPr>
      <dsp:spPr>
        <a:xfrm>
          <a:off x="376229" y="2154629"/>
          <a:ext cx="552668" cy="55266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96E322-FFC5-364F-9B66-C45470F824E0}">
      <dsp:nvSpPr>
        <dsp:cNvPr id="0" name=""/>
        <dsp:cNvSpPr/>
      </dsp:nvSpPr>
      <dsp:spPr>
        <a:xfrm>
          <a:off x="335742" y="2872886"/>
          <a:ext cx="10360833" cy="442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0945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/>
            <a:t>Embedding </a:t>
          </a:r>
          <a:r>
            <a:rPr lang="de-DE" sz="2400" kern="1200" dirty="0" err="1"/>
            <a:t>Based</a:t>
          </a:r>
          <a:r>
            <a:rPr lang="de-DE" sz="2400" kern="1200" dirty="0"/>
            <a:t> </a:t>
          </a:r>
          <a:r>
            <a:rPr lang="de-DE" sz="2400" kern="1200" dirty="0" err="1"/>
            <a:t>Labeling</a:t>
          </a:r>
          <a:endParaRPr lang="de-DE" sz="2400" kern="1200" dirty="0"/>
        </a:p>
      </dsp:txBody>
      <dsp:txXfrm>
        <a:off x="335742" y="2872886"/>
        <a:ext cx="10360833" cy="442134"/>
      </dsp:txXfrm>
    </dsp:sp>
    <dsp:sp modelId="{3F4FFFE4-5FC1-954D-8515-2646B7827E8C}">
      <dsp:nvSpPr>
        <dsp:cNvPr id="0" name=""/>
        <dsp:cNvSpPr/>
      </dsp:nvSpPr>
      <dsp:spPr>
        <a:xfrm>
          <a:off x="59408" y="2817619"/>
          <a:ext cx="552668" cy="55266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2800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7AB428-DE0C-49BF-90E7-B3CB4C7D1715}" type="datetimeFigureOut">
              <a:rPr lang="de-DE" smtClean="0"/>
              <a:t>03.02.26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1" y="6456613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2800" y="6456613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353CF4-3BA1-45F9-A12A-D45D9F9AC1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46107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2800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AFF18C-CCFE-49B1-BEF3-4B981799B926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631825"/>
            <a:ext cx="4078288" cy="22939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665" y="3271380"/>
            <a:ext cx="7941310" cy="318523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Textmasterformat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6456613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2800" y="6456613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C04BFF-B250-4F34-8513-350D55F32A5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77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04BFF-B250-4F34-8513-350D55F32A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025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04BFF-B250-4F34-8513-350D55F32A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124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-&gt; Here we show a result summary of our approaches and prediction prototype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04BFF-B250-4F34-8513-350D55F32A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666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04BFF-B250-4F34-8513-350D55F32A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838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04BFF-B250-4F34-8513-350D55F32A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307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4.tiff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4.tiff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5505B7-06B0-455E-A771-2886E2CB8F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07538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51" imgH="450" progId="TCLayout.ActiveDocument.1">
                  <p:embed/>
                </p:oleObj>
              </mc:Choice>
              <mc:Fallback>
                <p:oleObj name="think-cell Slide" r:id="rId4" imgW="451" imgH="45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5505B7-06B0-455E-A771-2886E2CB8F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hteck 8"/>
          <p:cNvSpPr/>
          <p:nvPr userDrawn="1"/>
        </p:nvSpPr>
        <p:spPr>
          <a:xfrm>
            <a:off x="11020425" y="381000"/>
            <a:ext cx="819150" cy="11906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8950D236-6E19-4E60-9AB2-BDDCE5311D4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2400" b="1" i="0" baseline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Rechteck 9"/>
          <p:cNvSpPr/>
          <p:nvPr userDrawn="1"/>
        </p:nvSpPr>
        <p:spPr>
          <a:xfrm>
            <a:off x="1009650" y="1800224"/>
            <a:ext cx="161925" cy="2137639"/>
          </a:xfrm>
          <a:prstGeom prst="rect">
            <a:avLst/>
          </a:prstGeom>
          <a:solidFill>
            <a:srgbClr val="00438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0734628-2878-4DB4-B3BE-EF0408923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97124" y="3167166"/>
            <a:ext cx="3794876" cy="36908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3E78930-3129-4C8E-98C9-EF14ECB040A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2288" y="381000"/>
            <a:ext cx="1956273" cy="388824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256427" y="3479076"/>
            <a:ext cx="7378411" cy="458787"/>
          </a:xfrm>
        </p:spPr>
        <p:txBody>
          <a:bodyPr anchor="ctr"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5C8A71A-F804-4814-BF1D-FA7C56F36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427" y="1800224"/>
            <a:ext cx="7372316" cy="1578701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2" name="AutoShape 2" descr="985E53E2-03B9-44C8-9435-6A6471F7A281">
            <a:extLst>
              <a:ext uri="{FF2B5EF4-FFF2-40B4-BE49-F238E27FC236}">
                <a16:creationId xmlns:a16="http://schemas.microsoft.com/office/drawing/2014/main" id="{512E1568-EB71-5396-0B80-0A9F273E6DC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8" descr="985E53E2-03B9-44C8-9435-6A6471F7A281">
            <a:extLst>
              <a:ext uri="{FF2B5EF4-FFF2-40B4-BE49-F238E27FC236}">
                <a16:creationId xmlns:a16="http://schemas.microsoft.com/office/drawing/2014/main" id="{9A1A82B4-F828-C3DB-77C8-9AD319BB0B0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84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5505B7-06B0-455E-A771-2886E2CB8F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07538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51" imgH="450" progId="TCLayout.ActiveDocument.1">
                  <p:embed/>
                </p:oleObj>
              </mc:Choice>
              <mc:Fallback>
                <p:oleObj name="think-cell Slide" r:id="rId4" imgW="451" imgH="45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5505B7-06B0-455E-A771-2886E2CB8F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8950D236-6E19-4E60-9AB2-BDDCE5311D4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2400" b="1" i="0" baseline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Rechteck 8"/>
          <p:cNvSpPr/>
          <p:nvPr userDrawn="1"/>
        </p:nvSpPr>
        <p:spPr>
          <a:xfrm>
            <a:off x="11020425" y="381000"/>
            <a:ext cx="819150" cy="11906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hteck 9"/>
          <p:cNvSpPr/>
          <p:nvPr userDrawn="1"/>
        </p:nvSpPr>
        <p:spPr>
          <a:xfrm>
            <a:off x="1009650" y="1800224"/>
            <a:ext cx="161925" cy="2137639"/>
          </a:xfrm>
          <a:prstGeom prst="rect">
            <a:avLst/>
          </a:prstGeom>
          <a:solidFill>
            <a:srgbClr val="00438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0734628-2878-4DB4-B3BE-EF0408923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97124" y="3167166"/>
            <a:ext cx="3794876" cy="36908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3E78930-3129-4C8E-98C9-EF14ECB040A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345" y="5785011"/>
            <a:ext cx="2465230" cy="489983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256427" y="3479076"/>
            <a:ext cx="7378411" cy="458787"/>
          </a:xfrm>
        </p:spPr>
        <p:txBody>
          <a:bodyPr anchor="ctr"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5C8A71A-F804-4814-BF1D-FA7C56F36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427" y="1800224"/>
            <a:ext cx="7372316" cy="1578701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0344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260439-4441-4B8C-ABE7-2F9DD29008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39442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51" imgH="450" progId="TCLayout.ActiveDocument.1">
                  <p:embed/>
                </p:oleObj>
              </mc:Choice>
              <mc:Fallback>
                <p:oleObj name="think-cell Slide" r:id="rId4" imgW="451" imgH="45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260439-4441-4B8C-ABE7-2F9DD29008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A7F550D8-F006-4A55-846B-5005DF6F22B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2400" b="1" i="0" baseline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Rechteck 11">
            <a:extLst>
              <a:ext uri="{FF2B5EF4-FFF2-40B4-BE49-F238E27FC236}">
                <a16:creationId xmlns:a16="http://schemas.microsoft.com/office/drawing/2014/main" id="{1D5AE068-DD8C-4F4F-8163-2A9E2EC5AFFF}"/>
              </a:ext>
            </a:extLst>
          </p:cNvPr>
          <p:cNvSpPr/>
          <p:nvPr userDrawn="1"/>
        </p:nvSpPr>
        <p:spPr>
          <a:xfrm>
            <a:off x="432000" y="6464299"/>
            <a:ext cx="746180" cy="149225"/>
          </a:xfrm>
          <a:prstGeom prst="rect">
            <a:avLst/>
          </a:prstGeom>
          <a:solidFill>
            <a:srgbClr val="004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A81CFB43-42B3-4864-ACBC-F323253784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1609" y="6464299"/>
            <a:ext cx="6971791" cy="149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Data Driven Decisions Group | Chair of logistics and quantitative methods  | Moritz Beck and Anh-</a:t>
            </a:r>
            <a:r>
              <a:rPr lang="en-US" err="1"/>
              <a:t>Duy</a:t>
            </a:r>
            <a:r>
              <a:rPr lang="en-US"/>
              <a:t> Pham</a:t>
            </a:r>
          </a:p>
        </p:txBody>
      </p:sp>
      <p:sp>
        <p:nvSpPr>
          <p:cNvPr id="10" name="Foliennummernplatzhalter 12">
            <a:extLst>
              <a:ext uri="{FF2B5EF4-FFF2-40B4-BE49-F238E27FC236}">
                <a16:creationId xmlns:a16="http://schemas.microsoft.com/office/drawing/2014/main" id="{02249A15-B925-406F-B454-789ADDD4BE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000" y="6464299"/>
            <a:ext cx="746180" cy="149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BE8D993-E95F-491F-9987-D09E7E644F2F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D11395-D320-4D1D-AA1E-E03FF4D6264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1661" y="6279959"/>
            <a:ext cx="1439569" cy="286126"/>
          </a:xfrm>
          <a:prstGeom prst="rect">
            <a:avLst/>
          </a:prstGeom>
        </p:spPr>
      </p:pic>
      <p:sp>
        <p:nvSpPr>
          <p:cNvPr id="13" name="Titelplatzhalter 1">
            <a:extLst>
              <a:ext uri="{FF2B5EF4-FFF2-40B4-BE49-F238E27FC236}">
                <a16:creationId xmlns:a16="http://schemas.microsoft.com/office/drawing/2014/main" id="{FA78E1B8-4266-4929-8261-8DD28ADB9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671" y="512384"/>
            <a:ext cx="8905553" cy="7165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980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260439-4441-4B8C-ABE7-2F9DD29008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216635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51" imgH="450" progId="TCLayout.ActiveDocument.1">
                  <p:embed/>
                </p:oleObj>
              </mc:Choice>
              <mc:Fallback>
                <p:oleObj name="think-cell Slide" r:id="rId4" imgW="451" imgH="45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260439-4441-4B8C-ABE7-2F9DD29008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A7F550D8-F006-4A55-846B-5005DF6F22B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2400" b="1" i="0" baseline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Rechteck 11">
            <a:extLst>
              <a:ext uri="{FF2B5EF4-FFF2-40B4-BE49-F238E27FC236}">
                <a16:creationId xmlns:a16="http://schemas.microsoft.com/office/drawing/2014/main" id="{1D5AE068-DD8C-4F4F-8163-2A9E2EC5AFFF}"/>
              </a:ext>
            </a:extLst>
          </p:cNvPr>
          <p:cNvSpPr/>
          <p:nvPr userDrawn="1"/>
        </p:nvSpPr>
        <p:spPr>
          <a:xfrm>
            <a:off x="432000" y="6464299"/>
            <a:ext cx="746180" cy="149225"/>
          </a:xfrm>
          <a:prstGeom prst="rect">
            <a:avLst/>
          </a:prstGeom>
          <a:solidFill>
            <a:srgbClr val="004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liennummernplatzhalter 12">
            <a:extLst>
              <a:ext uri="{FF2B5EF4-FFF2-40B4-BE49-F238E27FC236}">
                <a16:creationId xmlns:a16="http://schemas.microsoft.com/office/drawing/2014/main" id="{02249A15-B925-406F-B454-789ADDD4BE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000" y="6464299"/>
            <a:ext cx="746180" cy="149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BE8D993-E95F-491F-9987-D09E7E644F2F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3" name="Titelplatzhalter 1">
            <a:extLst>
              <a:ext uri="{FF2B5EF4-FFF2-40B4-BE49-F238E27FC236}">
                <a16:creationId xmlns:a16="http://schemas.microsoft.com/office/drawing/2014/main" id="{FA78E1B8-4266-4929-8261-8DD28ADB9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672" y="512384"/>
            <a:ext cx="7533548" cy="7165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CA6B06-E268-4710-BDA4-EDF06B95B433}"/>
              </a:ext>
            </a:extLst>
          </p:cNvPr>
          <p:cNvSpPr>
            <a:spLocks/>
          </p:cNvSpPr>
          <p:nvPr userDrawn="1"/>
        </p:nvSpPr>
        <p:spPr>
          <a:xfrm>
            <a:off x="9973340" y="512384"/>
            <a:ext cx="2218660" cy="7165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136B00-83E5-4F81-85A8-C5D95B68A52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079" y="708002"/>
            <a:ext cx="1609061" cy="319813"/>
          </a:xfrm>
          <a:prstGeom prst="rect">
            <a:avLst/>
          </a:prstGeom>
        </p:spPr>
      </p:pic>
      <p:sp>
        <p:nvSpPr>
          <p:cNvPr id="17" name="Fußzeilenplatzhalter 8">
            <a:extLst>
              <a:ext uri="{FF2B5EF4-FFF2-40B4-BE49-F238E27FC236}">
                <a16:creationId xmlns:a16="http://schemas.microsoft.com/office/drawing/2014/main" id="{F748CBE1-EA8E-418E-B881-40586BB0F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1609" y="6464299"/>
            <a:ext cx="6971791" cy="149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Data Driven Decisions Group | Chair of logistics | Moritz Beck and Anh-</a:t>
            </a:r>
            <a:r>
              <a:rPr lang="en-US" err="1"/>
              <a:t>Duy</a:t>
            </a:r>
            <a:r>
              <a:rPr lang="en-US"/>
              <a:t> Pham </a:t>
            </a:r>
          </a:p>
        </p:txBody>
      </p:sp>
    </p:spTree>
    <p:extLst>
      <p:ext uri="{BB962C8B-B14F-4D97-AF65-F5344CB8AC3E}">
        <p14:creationId xmlns:p14="http://schemas.microsoft.com/office/powerpoint/2010/main" val="2847463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8A9C953-C0B5-42C0-9248-C11ED8A805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5257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51" imgH="450" progId="TCLayout.ActiveDocument.1">
                  <p:embed/>
                </p:oleObj>
              </mc:Choice>
              <mc:Fallback>
                <p:oleObj name="think-cell Slide" r:id="rId3" imgW="451" imgH="45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8A9C953-C0B5-42C0-9248-C11ED8A805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91AC898-36B2-4B98-A2DC-D151C2D2AA5C}"/>
              </a:ext>
            </a:extLst>
          </p:cNvPr>
          <p:cNvSpPr>
            <a:spLocks/>
          </p:cNvSpPr>
          <p:nvPr userDrawn="1"/>
        </p:nvSpPr>
        <p:spPr>
          <a:xfrm>
            <a:off x="7370618" y="0"/>
            <a:ext cx="482138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EB80A73C-7F03-429C-8B3B-29B46B8F4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9671" y="512384"/>
            <a:ext cx="4921535" cy="716587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BC01A1-04AC-4C48-8A7A-F52B6FF7BAAA}"/>
              </a:ext>
            </a:extLst>
          </p:cNvPr>
          <p:cNvGrpSpPr/>
          <p:nvPr userDrawn="1"/>
        </p:nvGrpSpPr>
        <p:grpSpPr>
          <a:xfrm>
            <a:off x="1921681" y="2292153"/>
            <a:ext cx="5269525" cy="466487"/>
            <a:chOff x="1921681" y="2292153"/>
            <a:chExt cx="5269525" cy="466487"/>
          </a:xfrm>
          <a:solidFill>
            <a:schemeClr val="accent1"/>
          </a:solidFill>
        </p:grpSpPr>
        <p:sp>
          <p:nvSpPr>
            <p:cNvPr id="8" name="Pointer-half">
              <a:extLst>
                <a:ext uri="{FF2B5EF4-FFF2-40B4-BE49-F238E27FC236}">
                  <a16:creationId xmlns:a16="http://schemas.microsoft.com/office/drawing/2014/main" id="{893AE244-6259-4BEF-8640-5D5AAC3F62EF}"/>
                </a:ext>
              </a:extLst>
            </p:cNvPr>
            <p:cNvSpPr/>
            <p:nvPr/>
          </p:nvSpPr>
          <p:spPr>
            <a:xfrm>
              <a:off x="1921681" y="2356821"/>
              <a:ext cx="168578" cy="337152"/>
            </a:xfrm>
            <a:custGeom>
              <a:avLst/>
              <a:gdLst>
                <a:gd name="connsiteX0" fmla="*/ 0 w 250012"/>
                <a:gd name="connsiteY0" fmla="*/ 0 h 500022"/>
                <a:gd name="connsiteX1" fmla="*/ 250012 w 250012"/>
                <a:gd name="connsiteY1" fmla="*/ 250011 h 500022"/>
                <a:gd name="connsiteX2" fmla="*/ 0 w 250012"/>
                <a:gd name="connsiteY2" fmla="*/ 500022 h 500022"/>
                <a:gd name="connsiteX3" fmla="*/ 0 w 250012"/>
                <a:gd name="connsiteY3" fmla="*/ 0 h 500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012" h="500022">
                  <a:moveTo>
                    <a:pt x="0" y="0"/>
                  </a:moveTo>
                  <a:lnTo>
                    <a:pt x="250012" y="250011"/>
                  </a:lnTo>
                  <a:lnTo>
                    <a:pt x="0" y="50002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297" tIns="46649" rIns="93297" bIns="466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FE97E46-C798-4FDB-BF45-F213513348FD}"/>
                </a:ext>
              </a:extLst>
            </p:cNvPr>
            <p:cNvSpPr txBox="1"/>
            <p:nvPr/>
          </p:nvSpPr>
          <p:spPr>
            <a:xfrm>
              <a:off x="2269671" y="2292153"/>
              <a:ext cx="4921535" cy="466487"/>
            </a:xfrm>
            <a:prstGeom prst="rect">
              <a:avLst/>
            </a:prstGeom>
            <a:grpFill/>
            <a:ln w="6350">
              <a:noFill/>
              <a:miter lim="800000"/>
            </a:ln>
          </p:spPr>
          <p:txBody>
            <a:bodyPr vert="horz" wrap="square" lIns="72000" tIns="72000" rIns="72000" bIns="7200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6"/>
                </a:spcBef>
                <a:spcAft>
                  <a:spcPts val="306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&lt;topic 1&gt;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FF496F5-5011-49F6-AE45-DA049DC7D3B1}"/>
              </a:ext>
            </a:extLst>
          </p:cNvPr>
          <p:cNvGrpSpPr/>
          <p:nvPr userDrawn="1"/>
        </p:nvGrpSpPr>
        <p:grpSpPr>
          <a:xfrm>
            <a:off x="1921681" y="2931708"/>
            <a:ext cx="5269525" cy="466487"/>
            <a:chOff x="1921681" y="2908437"/>
            <a:chExt cx="5269525" cy="466487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1" name="Pointer-half">
              <a:extLst>
                <a:ext uri="{FF2B5EF4-FFF2-40B4-BE49-F238E27FC236}">
                  <a16:creationId xmlns:a16="http://schemas.microsoft.com/office/drawing/2014/main" id="{52CD4C28-20F5-461D-B5A4-6687CC760C96}"/>
                </a:ext>
              </a:extLst>
            </p:cNvPr>
            <p:cNvSpPr/>
            <p:nvPr/>
          </p:nvSpPr>
          <p:spPr>
            <a:xfrm>
              <a:off x="1921681" y="2973105"/>
              <a:ext cx="168578" cy="337152"/>
            </a:xfrm>
            <a:custGeom>
              <a:avLst/>
              <a:gdLst>
                <a:gd name="connsiteX0" fmla="*/ 0 w 250012"/>
                <a:gd name="connsiteY0" fmla="*/ 0 h 500022"/>
                <a:gd name="connsiteX1" fmla="*/ 250012 w 250012"/>
                <a:gd name="connsiteY1" fmla="*/ 250011 h 500022"/>
                <a:gd name="connsiteX2" fmla="*/ 0 w 250012"/>
                <a:gd name="connsiteY2" fmla="*/ 500022 h 500022"/>
                <a:gd name="connsiteX3" fmla="*/ 0 w 250012"/>
                <a:gd name="connsiteY3" fmla="*/ 0 h 500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012" h="500022">
                  <a:moveTo>
                    <a:pt x="0" y="0"/>
                  </a:moveTo>
                  <a:lnTo>
                    <a:pt x="250012" y="250011"/>
                  </a:lnTo>
                  <a:lnTo>
                    <a:pt x="0" y="50002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297" tIns="46649" rIns="93297" bIns="466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522E0F4-6245-4FA9-B195-B27419EAB100}"/>
                </a:ext>
              </a:extLst>
            </p:cNvPr>
            <p:cNvSpPr txBox="1"/>
            <p:nvPr/>
          </p:nvSpPr>
          <p:spPr>
            <a:xfrm>
              <a:off x="2269671" y="2908437"/>
              <a:ext cx="4921535" cy="466487"/>
            </a:xfrm>
            <a:prstGeom prst="rect">
              <a:avLst/>
            </a:prstGeom>
            <a:grpFill/>
            <a:ln w="6350">
              <a:noFill/>
              <a:miter lim="800000"/>
            </a:ln>
          </p:spPr>
          <p:txBody>
            <a:bodyPr vert="horz" wrap="square" lIns="72000" tIns="72000" rIns="72000" bIns="7200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6"/>
                </a:spcBef>
                <a:spcAft>
                  <a:spcPts val="306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&lt;topic 2&gt;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37800E-3903-4871-BC16-99C75CF85FFB}"/>
              </a:ext>
            </a:extLst>
          </p:cNvPr>
          <p:cNvGrpSpPr/>
          <p:nvPr userDrawn="1"/>
        </p:nvGrpSpPr>
        <p:grpSpPr>
          <a:xfrm>
            <a:off x="1921681" y="3571263"/>
            <a:ext cx="5269525" cy="466487"/>
            <a:chOff x="1921681" y="3497174"/>
            <a:chExt cx="5269525" cy="466487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4" name="Pointer-half">
              <a:extLst>
                <a:ext uri="{FF2B5EF4-FFF2-40B4-BE49-F238E27FC236}">
                  <a16:creationId xmlns:a16="http://schemas.microsoft.com/office/drawing/2014/main" id="{E469000E-2BD4-42E8-9671-FCE991B269D9}"/>
                </a:ext>
              </a:extLst>
            </p:cNvPr>
            <p:cNvSpPr/>
            <p:nvPr/>
          </p:nvSpPr>
          <p:spPr>
            <a:xfrm>
              <a:off x="1921681" y="3561842"/>
              <a:ext cx="168578" cy="337152"/>
            </a:xfrm>
            <a:custGeom>
              <a:avLst/>
              <a:gdLst>
                <a:gd name="connsiteX0" fmla="*/ 0 w 250012"/>
                <a:gd name="connsiteY0" fmla="*/ 0 h 500022"/>
                <a:gd name="connsiteX1" fmla="*/ 250012 w 250012"/>
                <a:gd name="connsiteY1" fmla="*/ 250011 h 500022"/>
                <a:gd name="connsiteX2" fmla="*/ 0 w 250012"/>
                <a:gd name="connsiteY2" fmla="*/ 500022 h 500022"/>
                <a:gd name="connsiteX3" fmla="*/ 0 w 250012"/>
                <a:gd name="connsiteY3" fmla="*/ 0 h 500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012" h="500022">
                  <a:moveTo>
                    <a:pt x="0" y="0"/>
                  </a:moveTo>
                  <a:lnTo>
                    <a:pt x="250012" y="250011"/>
                  </a:lnTo>
                  <a:lnTo>
                    <a:pt x="0" y="50002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297" tIns="46649" rIns="93297" bIns="466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111F375-4F4E-46AD-842D-C470692A085B}"/>
                </a:ext>
              </a:extLst>
            </p:cNvPr>
            <p:cNvSpPr txBox="1"/>
            <p:nvPr/>
          </p:nvSpPr>
          <p:spPr>
            <a:xfrm>
              <a:off x="2269671" y="3497174"/>
              <a:ext cx="4921535" cy="466487"/>
            </a:xfrm>
            <a:prstGeom prst="rect">
              <a:avLst/>
            </a:prstGeom>
            <a:grpFill/>
            <a:ln w="6350">
              <a:noFill/>
              <a:miter lim="800000"/>
            </a:ln>
          </p:spPr>
          <p:txBody>
            <a:bodyPr vert="horz" wrap="square" lIns="72000" tIns="72000" rIns="72000" bIns="7200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6"/>
                </a:spcBef>
                <a:spcAft>
                  <a:spcPts val="306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&lt;…&gt;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4C1BE7C8-EC21-43D1-87FB-FE00546795E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400" y="6394312"/>
            <a:ext cx="1448946" cy="287989"/>
          </a:xfrm>
          <a:prstGeom prst="rect">
            <a:avLst/>
          </a:prstGeom>
        </p:spPr>
      </p:pic>
      <p:sp>
        <p:nvSpPr>
          <p:cNvPr id="18" name="Rechteck 11">
            <a:extLst>
              <a:ext uri="{FF2B5EF4-FFF2-40B4-BE49-F238E27FC236}">
                <a16:creationId xmlns:a16="http://schemas.microsoft.com/office/drawing/2014/main" id="{CCAA9E9F-1D94-4A7F-92D4-7A6231AE920D}"/>
              </a:ext>
            </a:extLst>
          </p:cNvPr>
          <p:cNvSpPr/>
          <p:nvPr userDrawn="1"/>
        </p:nvSpPr>
        <p:spPr>
          <a:xfrm>
            <a:off x="432000" y="6464299"/>
            <a:ext cx="746180" cy="149225"/>
          </a:xfrm>
          <a:prstGeom prst="rect">
            <a:avLst/>
          </a:prstGeom>
          <a:solidFill>
            <a:srgbClr val="004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oliennummernplatzhalter 12">
            <a:extLst>
              <a:ext uri="{FF2B5EF4-FFF2-40B4-BE49-F238E27FC236}">
                <a16:creationId xmlns:a16="http://schemas.microsoft.com/office/drawing/2014/main" id="{CF210F18-5FDE-4CAA-AFAF-41A49C38C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000" y="6464299"/>
            <a:ext cx="746180" cy="149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BE8D993-E95F-491F-9987-D09E7E644F2F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0" name="Fußzeilenplatzhalter 8">
            <a:extLst>
              <a:ext uri="{FF2B5EF4-FFF2-40B4-BE49-F238E27FC236}">
                <a16:creationId xmlns:a16="http://schemas.microsoft.com/office/drawing/2014/main" id="{9A584802-D750-4905-8B6F-E340E87DA0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1609" y="6464299"/>
            <a:ext cx="8511031" cy="149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Data Driven Decisions Group | Chair of logistics | Moritz Beck and Anh-</a:t>
            </a:r>
            <a:r>
              <a:rPr lang="en-US" err="1"/>
              <a:t>Duy</a:t>
            </a:r>
            <a:r>
              <a:rPr lang="en-US"/>
              <a:t> Pham </a:t>
            </a:r>
          </a:p>
          <a:p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BDD9DFB-6637-42F6-9A5F-732E7DE19E7E}"/>
              </a:ext>
            </a:extLst>
          </p:cNvPr>
          <p:cNvSpPr txBox="1">
            <a:spLocks/>
          </p:cNvSpPr>
          <p:nvPr userDrawn="1"/>
        </p:nvSpPr>
        <p:spPr>
          <a:xfrm>
            <a:off x="7474527" y="512384"/>
            <a:ext cx="3865473" cy="7165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438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Session objectives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33D94B-7261-4167-AA63-0202ED8574A3}"/>
              </a:ext>
            </a:extLst>
          </p:cNvPr>
          <p:cNvSpPr txBox="1"/>
          <p:nvPr userDrawn="1"/>
        </p:nvSpPr>
        <p:spPr>
          <a:xfrm>
            <a:off x="7594858" y="2277849"/>
            <a:ext cx="3655033" cy="41144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2000">
                <a:solidFill>
                  <a:schemeClr val="bg1"/>
                </a:solidFill>
              </a:rPr>
              <a:t>&lt;objective 1&gt;</a:t>
            </a:r>
          </a:p>
          <a:p>
            <a:r>
              <a:rPr lang="en-US" sz="2000">
                <a:solidFill>
                  <a:schemeClr val="bg1"/>
                </a:solidFill>
              </a:rPr>
              <a:t>&lt;objective 2&gt;</a:t>
            </a:r>
          </a:p>
          <a:p>
            <a:r>
              <a:rPr lang="en-US" sz="2000">
                <a:solidFill>
                  <a:schemeClr val="bg1"/>
                </a:solidFill>
              </a:rPr>
              <a:t>&lt;…&gt;</a:t>
            </a:r>
          </a:p>
        </p:txBody>
      </p:sp>
    </p:spTree>
    <p:extLst>
      <p:ext uri="{BB962C8B-B14F-4D97-AF65-F5344CB8AC3E}">
        <p14:creationId xmlns:p14="http://schemas.microsoft.com/office/powerpoint/2010/main" val="302932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8A9C953-C0B5-42C0-9248-C11ED8A805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5257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51" imgH="450" progId="TCLayout.ActiveDocument.1">
                  <p:embed/>
                </p:oleObj>
              </mc:Choice>
              <mc:Fallback>
                <p:oleObj name="think-cell Slide" r:id="rId3" imgW="451" imgH="45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8A9C953-C0B5-42C0-9248-C11ED8A805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91AC898-36B2-4B98-A2DC-D151C2D2AA5C}"/>
              </a:ext>
            </a:extLst>
          </p:cNvPr>
          <p:cNvSpPr>
            <a:spLocks/>
          </p:cNvSpPr>
          <p:nvPr userDrawn="1"/>
        </p:nvSpPr>
        <p:spPr>
          <a:xfrm>
            <a:off x="1" y="0"/>
            <a:ext cx="491389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EB80A73C-7F03-429C-8B3B-29B46B8F4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7688" y="512384"/>
            <a:ext cx="6009597" cy="716587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8" name="Rechteck 11">
            <a:extLst>
              <a:ext uri="{FF2B5EF4-FFF2-40B4-BE49-F238E27FC236}">
                <a16:creationId xmlns:a16="http://schemas.microsoft.com/office/drawing/2014/main" id="{CCAA9E9F-1D94-4A7F-92D4-7A6231AE920D}"/>
              </a:ext>
            </a:extLst>
          </p:cNvPr>
          <p:cNvSpPr/>
          <p:nvPr userDrawn="1"/>
        </p:nvSpPr>
        <p:spPr>
          <a:xfrm>
            <a:off x="432000" y="6464299"/>
            <a:ext cx="746180" cy="149225"/>
          </a:xfrm>
          <a:prstGeom prst="rect">
            <a:avLst/>
          </a:prstGeom>
          <a:solidFill>
            <a:srgbClr val="004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oliennummernplatzhalter 12">
            <a:extLst>
              <a:ext uri="{FF2B5EF4-FFF2-40B4-BE49-F238E27FC236}">
                <a16:creationId xmlns:a16="http://schemas.microsoft.com/office/drawing/2014/main" id="{CF210F18-5FDE-4CAA-AFAF-41A49C38C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000" y="6464299"/>
            <a:ext cx="746180" cy="149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BE8D993-E95F-491F-9987-D09E7E644F2F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33D94B-7261-4167-AA63-0202ED8574A3}"/>
              </a:ext>
            </a:extLst>
          </p:cNvPr>
          <p:cNvSpPr txBox="1"/>
          <p:nvPr userDrawn="1"/>
        </p:nvSpPr>
        <p:spPr>
          <a:xfrm>
            <a:off x="7594858" y="2277849"/>
            <a:ext cx="3655033" cy="41144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2000">
                <a:solidFill>
                  <a:schemeClr val="bg1"/>
                </a:solidFill>
              </a:rPr>
              <a:t>&lt;objective 1&gt;</a:t>
            </a:r>
          </a:p>
          <a:p>
            <a:r>
              <a:rPr lang="en-US" sz="2000">
                <a:solidFill>
                  <a:schemeClr val="bg1"/>
                </a:solidFill>
              </a:rPr>
              <a:t>&lt;objective 2&gt;</a:t>
            </a:r>
          </a:p>
          <a:p>
            <a:r>
              <a:rPr lang="en-US" sz="2000">
                <a:solidFill>
                  <a:schemeClr val="bg1"/>
                </a:solidFill>
              </a:rPr>
              <a:t>&lt;…&gt;</a:t>
            </a:r>
          </a:p>
        </p:txBody>
      </p:sp>
      <p:pic>
        <p:nvPicPr>
          <p:cNvPr id="7" name="Grafik 6" descr="Ein Bild, das Text, Schrift, Grafiken, weiß enthält.&#10;&#10;Automatisch generierte Beschreibung">
            <a:extLst>
              <a:ext uri="{FF2B5EF4-FFF2-40B4-BE49-F238E27FC236}">
                <a16:creationId xmlns:a16="http://schemas.microsoft.com/office/drawing/2014/main" id="{519607FB-7F09-25C1-FBDF-BD05BEFFB49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33" y="521909"/>
            <a:ext cx="1610363" cy="707062"/>
          </a:xfrm>
          <a:prstGeom prst="rect">
            <a:avLst/>
          </a:prstGeom>
        </p:spPr>
      </p:pic>
      <p:sp>
        <p:nvSpPr>
          <p:cNvPr id="24" name="Fußzeilenplatzhalter 8">
            <a:extLst>
              <a:ext uri="{FF2B5EF4-FFF2-40B4-BE49-F238E27FC236}">
                <a16:creationId xmlns:a16="http://schemas.microsoft.com/office/drawing/2014/main" id="{D13BFA33-2847-06A2-D3DC-B7666D223D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1610" y="6464299"/>
            <a:ext cx="3507621" cy="149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Data Driven Decisions Group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A5AD03F-8546-F176-FAFE-EBA3B22C81FA}"/>
              </a:ext>
            </a:extLst>
          </p:cNvPr>
          <p:cNvSpPr/>
          <p:nvPr userDrawn="1"/>
        </p:nvSpPr>
        <p:spPr>
          <a:xfrm>
            <a:off x="11249891" y="174171"/>
            <a:ext cx="593766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96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A9F2966-3E23-4F0F-ADD5-86C5D7E742C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63187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51" imgH="450" progId="TCLayout.ActiveDocument.1">
                  <p:embed/>
                </p:oleObj>
              </mc:Choice>
              <mc:Fallback>
                <p:oleObj name="think-cell Slide" r:id="rId4" imgW="451" imgH="45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A9F2966-3E23-4F0F-ADD5-86C5D7E742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38AE24C3-AFD7-4ACB-BE6B-094E6BDCCA6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2400" b="1" i="0" baseline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28600" indent="-228600">
              <a:buClr>
                <a:srgbClr val="004389"/>
              </a:buClr>
              <a:buFont typeface="Wingdings" panose="05000000000000000000" pitchFamily="2" charset="2"/>
              <a:buChar char="§"/>
              <a:defRPr sz="1600"/>
            </a:lvl1pPr>
            <a:lvl2pPr marL="538163" indent="-228600">
              <a:buClr>
                <a:srgbClr val="004389"/>
              </a:buClr>
              <a:defRPr sz="1600"/>
            </a:lvl2pPr>
            <a:lvl3pPr marL="804863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600"/>
            </a:lvl3pPr>
            <a:lvl4pPr marL="1077913" indent="-228600">
              <a:buClr>
                <a:schemeClr val="accent1"/>
              </a:buClr>
              <a:buFont typeface="Symbol" panose="05050102010706020507" pitchFamily="18" charset="2"/>
              <a:buChar char="-"/>
              <a:defRPr sz="1600"/>
            </a:lvl4pPr>
            <a:lvl5pPr marL="1344613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Rechteck 11">
            <a:extLst>
              <a:ext uri="{FF2B5EF4-FFF2-40B4-BE49-F238E27FC236}">
                <a16:creationId xmlns:a16="http://schemas.microsoft.com/office/drawing/2014/main" id="{67CFBB64-7FF7-4BF9-902C-24C7E5C50FAA}"/>
              </a:ext>
            </a:extLst>
          </p:cNvPr>
          <p:cNvSpPr/>
          <p:nvPr userDrawn="1"/>
        </p:nvSpPr>
        <p:spPr>
          <a:xfrm>
            <a:off x="432000" y="6464299"/>
            <a:ext cx="746180" cy="149225"/>
          </a:xfrm>
          <a:prstGeom prst="rect">
            <a:avLst/>
          </a:prstGeom>
          <a:solidFill>
            <a:srgbClr val="004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liennummernplatzhalter 12">
            <a:extLst>
              <a:ext uri="{FF2B5EF4-FFF2-40B4-BE49-F238E27FC236}">
                <a16:creationId xmlns:a16="http://schemas.microsoft.com/office/drawing/2014/main" id="{76298A5F-C4A2-4FD9-B515-D88FEBB3DD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000" y="6464299"/>
            <a:ext cx="746180" cy="149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BE8D993-E95F-491F-9987-D09E7E644F2F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3" name="Titelplatzhalter 1">
            <a:extLst>
              <a:ext uri="{FF2B5EF4-FFF2-40B4-BE49-F238E27FC236}">
                <a16:creationId xmlns:a16="http://schemas.microsoft.com/office/drawing/2014/main" id="{36BDD710-E24D-4F31-935A-81FD014A9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671" y="512384"/>
            <a:ext cx="8905553" cy="7165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4" name="Fußzeilenplatzhalter 8">
            <a:extLst>
              <a:ext uri="{FF2B5EF4-FFF2-40B4-BE49-F238E27FC236}">
                <a16:creationId xmlns:a16="http://schemas.microsoft.com/office/drawing/2014/main" id="{234BC13D-563D-400A-9C9E-CFC7B29D8E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1609" y="6464299"/>
            <a:ext cx="6971791" cy="149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Data Driven Decisions Group | Chair of logistics | Moritz Beck and Anh-</a:t>
            </a:r>
            <a:r>
              <a:rPr lang="en-US" err="1"/>
              <a:t>Duy</a:t>
            </a:r>
            <a:r>
              <a:rPr lang="en-US"/>
              <a:t> Pham </a:t>
            </a:r>
          </a:p>
        </p:txBody>
      </p:sp>
    </p:spTree>
    <p:extLst>
      <p:ext uri="{BB962C8B-B14F-4D97-AF65-F5344CB8AC3E}">
        <p14:creationId xmlns:p14="http://schemas.microsoft.com/office/powerpoint/2010/main" val="1352517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A9F2966-3E23-4F0F-ADD5-86C5D7E742C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69067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51" imgH="450" progId="TCLayout.ActiveDocument.1">
                  <p:embed/>
                </p:oleObj>
              </mc:Choice>
              <mc:Fallback>
                <p:oleObj name="think-cell Slide" r:id="rId4" imgW="451" imgH="45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A9F2966-3E23-4F0F-ADD5-86C5D7E742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38AE24C3-AFD7-4ACB-BE6B-094E6BDCCA6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2400" b="1" i="0" baseline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28600" indent="-228600">
              <a:buClr>
                <a:srgbClr val="004389"/>
              </a:buClr>
              <a:buFont typeface="Wingdings" panose="05000000000000000000" pitchFamily="2" charset="2"/>
              <a:buChar char="§"/>
              <a:defRPr sz="1600"/>
            </a:lvl1pPr>
            <a:lvl2pPr marL="538163" indent="-228600">
              <a:buClr>
                <a:srgbClr val="004389"/>
              </a:buClr>
              <a:defRPr sz="1600"/>
            </a:lvl2pPr>
            <a:lvl3pPr marL="804863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600"/>
            </a:lvl3pPr>
            <a:lvl4pPr marL="1077913" indent="-228600">
              <a:buClr>
                <a:schemeClr val="accent1"/>
              </a:buClr>
              <a:buFont typeface="Symbol" panose="05050102010706020507" pitchFamily="18" charset="2"/>
              <a:buChar char="-"/>
              <a:defRPr sz="1600"/>
            </a:lvl4pPr>
            <a:lvl5pPr marL="1344613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Rechteck 11">
            <a:extLst>
              <a:ext uri="{FF2B5EF4-FFF2-40B4-BE49-F238E27FC236}">
                <a16:creationId xmlns:a16="http://schemas.microsoft.com/office/drawing/2014/main" id="{67CFBB64-7FF7-4BF9-902C-24C7E5C50FAA}"/>
              </a:ext>
            </a:extLst>
          </p:cNvPr>
          <p:cNvSpPr/>
          <p:nvPr userDrawn="1"/>
        </p:nvSpPr>
        <p:spPr>
          <a:xfrm>
            <a:off x="432000" y="6464299"/>
            <a:ext cx="746180" cy="149225"/>
          </a:xfrm>
          <a:prstGeom prst="rect">
            <a:avLst/>
          </a:prstGeom>
          <a:solidFill>
            <a:srgbClr val="004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liennummernplatzhalter 12">
            <a:extLst>
              <a:ext uri="{FF2B5EF4-FFF2-40B4-BE49-F238E27FC236}">
                <a16:creationId xmlns:a16="http://schemas.microsoft.com/office/drawing/2014/main" id="{76298A5F-C4A2-4FD9-B515-D88FEBB3DD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000" y="6464299"/>
            <a:ext cx="746180" cy="149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BE8D993-E95F-491F-9987-D09E7E644F2F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Titelplatzhalter 1">
            <a:extLst>
              <a:ext uri="{FF2B5EF4-FFF2-40B4-BE49-F238E27FC236}">
                <a16:creationId xmlns:a16="http://schemas.microsoft.com/office/drawing/2014/main" id="{F7EFE4B8-83C3-4DE2-9E4F-B0460F89B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672" y="512384"/>
            <a:ext cx="7533548" cy="7165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0FAF-97DA-4986-BCAB-0EF2FF0F6FE1}"/>
              </a:ext>
            </a:extLst>
          </p:cNvPr>
          <p:cNvSpPr>
            <a:spLocks/>
          </p:cNvSpPr>
          <p:nvPr userDrawn="1"/>
        </p:nvSpPr>
        <p:spPr>
          <a:xfrm>
            <a:off x="9973340" y="512384"/>
            <a:ext cx="2218660" cy="7165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ADBCAA1-58C8-4B45-98AB-BE766A55A11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079" y="708002"/>
            <a:ext cx="1609061" cy="319813"/>
          </a:xfrm>
          <a:prstGeom prst="rect">
            <a:avLst/>
          </a:prstGeom>
        </p:spPr>
      </p:pic>
      <p:sp>
        <p:nvSpPr>
          <p:cNvPr id="16" name="Fußzeilenplatzhalter 8">
            <a:extLst>
              <a:ext uri="{FF2B5EF4-FFF2-40B4-BE49-F238E27FC236}">
                <a16:creationId xmlns:a16="http://schemas.microsoft.com/office/drawing/2014/main" id="{1091ED32-90A0-4A18-A949-A3D59A8EB1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1609" y="6464299"/>
            <a:ext cx="6971791" cy="149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Data Driven Decisions Group | &lt;Chair&gt; | &lt;Name&gt;</a:t>
            </a:r>
          </a:p>
        </p:txBody>
      </p:sp>
    </p:spTree>
    <p:extLst>
      <p:ext uri="{BB962C8B-B14F-4D97-AF65-F5344CB8AC3E}">
        <p14:creationId xmlns:p14="http://schemas.microsoft.com/office/powerpoint/2010/main" val="2319383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A9F2966-3E23-4F0F-ADD5-86C5D7E742C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53313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51" imgH="450" progId="TCLayout.ActiveDocument.1">
                  <p:embed/>
                </p:oleObj>
              </mc:Choice>
              <mc:Fallback>
                <p:oleObj name="think-cell Slide" r:id="rId4" imgW="451" imgH="45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A9F2966-3E23-4F0F-ADD5-86C5D7E742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38AE24C3-AFD7-4ACB-BE6B-094E6BDCCA6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2400" b="1" i="0" baseline="0" dirty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28600" indent="-228600">
              <a:buClr>
                <a:srgbClr val="004389"/>
              </a:buClr>
              <a:buFont typeface="Wingdings" panose="05000000000000000000" pitchFamily="2" charset="2"/>
              <a:buChar char="§"/>
              <a:defRPr sz="1600"/>
            </a:lvl1pPr>
            <a:lvl2pPr marL="538163" indent="-228600">
              <a:buClr>
                <a:srgbClr val="004389"/>
              </a:buClr>
              <a:defRPr sz="1600"/>
            </a:lvl2pPr>
            <a:lvl3pPr marL="804863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600"/>
            </a:lvl3pPr>
            <a:lvl4pPr marL="1077913" indent="-228600">
              <a:buClr>
                <a:schemeClr val="accent1"/>
              </a:buClr>
              <a:buFont typeface="Symbol" panose="05050102010706020507" pitchFamily="18" charset="2"/>
              <a:buChar char="-"/>
              <a:defRPr sz="1600"/>
            </a:lvl4pPr>
            <a:lvl5pPr marL="1344613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&lt;Veranstaltung&gt; | &lt;Name&gt;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E8D993-E95F-491F-9987-D09E7E644F2F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197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27C934F-FA50-4DB7-B4DC-D62CB9D7AA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36840569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451" imgH="450" progId="TCLayout.ActiveDocument.1">
                  <p:embed/>
                </p:oleObj>
              </mc:Choice>
              <mc:Fallback>
                <p:oleObj name="think-cell Slide" r:id="rId13" imgW="451" imgH="45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27C934F-FA50-4DB7-B4DC-D62CB9D7AA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DBD2721-E9BD-4747-A88D-23A8F12CCF56}"/>
              </a:ext>
            </a:extLst>
          </p:cNvPr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2400" b="1" i="0" baseline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269671" y="512384"/>
            <a:ext cx="8905553" cy="7165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32000" y="1396999"/>
            <a:ext cx="11046792" cy="4735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" y="512384"/>
            <a:ext cx="1643743" cy="721658"/>
          </a:xfrm>
          <a:prstGeom prst="rect">
            <a:avLst/>
          </a:prstGeom>
        </p:spPr>
      </p:pic>
      <p:sp>
        <p:nvSpPr>
          <p:cNvPr id="10" name="Rechteck 9"/>
          <p:cNvSpPr/>
          <p:nvPr userDrawn="1"/>
        </p:nvSpPr>
        <p:spPr>
          <a:xfrm>
            <a:off x="11340000" y="512384"/>
            <a:ext cx="138792" cy="716587"/>
          </a:xfrm>
          <a:prstGeom prst="rect">
            <a:avLst/>
          </a:prstGeom>
          <a:solidFill>
            <a:srgbClr val="004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033251-81E4-023D-8AD4-D37AC23516C4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1661" y="6279959"/>
            <a:ext cx="1439569" cy="28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32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6" r:id="rId2"/>
    <p:sldLayoutId id="2147483655" r:id="rId3"/>
    <p:sldLayoutId id="2147483654" r:id="rId4"/>
    <p:sldLayoutId id="2147483658" r:id="rId5"/>
    <p:sldLayoutId id="2147483659" r:id="rId6"/>
    <p:sldLayoutId id="2147483650" r:id="rId7"/>
    <p:sldLayoutId id="2147483657" r:id="rId8"/>
    <p:sldLayoutId id="2147483660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0438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085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20725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8425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54125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prediction-prototype.streamlit.app/" TargetMode="Externa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microsoft.com/office/2007/relationships/hdphoto" Target="../media/hdphoto1.wdp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0" Type="http://schemas.microsoft.com/office/2007/relationships/hdphoto" Target="../media/hdphoto3.wdp"/><Relationship Id="rId4" Type="http://schemas.openxmlformats.org/officeDocument/2006/relationships/image" Target="../media/image14.sv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EA49910-D0EF-4B54-8B25-8340DBB3C30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51" imgH="450" progId="TCLayout.ActiveDocument.1">
                  <p:embed/>
                </p:oleObj>
              </mc:Choice>
              <mc:Fallback>
                <p:oleObj name="think-cell Slide" r:id="rId3" imgW="451" imgH="45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EA49910-D0EF-4B54-8B25-8340DBB3C3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9657CF-76FF-4FAB-A313-9709E2293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6427" y="3013712"/>
            <a:ext cx="8647737" cy="848073"/>
          </a:xfrm>
        </p:spPr>
        <p:txBody>
          <a:bodyPr>
            <a:normAutofit/>
          </a:bodyPr>
          <a:lstStyle/>
          <a:p>
            <a:endParaRPr lang="en-US" sz="1200" dirty="0"/>
          </a:p>
          <a:p>
            <a:r>
              <a:rPr lang="en-US" sz="1200" dirty="0"/>
              <a:t>02. February 2026 – Practical Data Science</a:t>
            </a:r>
          </a:p>
          <a:p>
            <a:r>
              <a:rPr lang="en-US" sz="1200" dirty="0"/>
              <a:t>Laura </a:t>
            </a:r>
            <a:r>
              <a:rPr lang="en-US" sz="1200" dirty="0" err="1"/>
              <a:t>Hüsam</a:t>
            </a:r>
            <a:r>
              <a:rPr lang="en-US" sz="1200" dirty="0"/>
              <a:t>, Luisa Dosch, Sonia Bronner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56F436-3893-4275-9D76-0895D7B9C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427" y="1376905"/>
            <a:ext cx="10188646" cy="1913749"/>
          </a:xfrm>
        </p:spPr>
        <p:txBody>
          <a:bodyPr vert="horz">
            <a:noAutofit/>
          </a:bodyPr>
          <a:lstStyle/>
          <a:p>
            <a:br>
              <a:rPr lang="de-DE" sz="2800" dirty="0"/>
            </a:br>
            <a:r>
              <a:rPr lang="de-DE" sz="2800" dirty="0" err="1">
                <a:effectLst/>
                <a:latin typeface="Helvetica Neue" panose="02000503000000020004" pitchFamily="2" charset="0"/>
              </a:rPr>
              <a:t>Capstone</a:t>
            </a:r>
            <a:r>
              <a:rPr lang="de-DE" sz="2800" dirty="0">
                <a:effectLst/>
                <a:latin typeface="Helvetica Neue" panose="02000503000000020004" pitchFamily="2" charset="0"/>
              </a:rPr>
              <a:t> Project: </a:t>
            </a:r>
            <a:r>
              <a:rPr lang="de-DE" sz="2800" dirty="0" err="1">
                <a:effectLst/>
                <a:latin typeface="Helvetica Neue" panose="02000503000000020004" pitchFamily="2" charset="0"/>
              </a:rPr>
              <a:t>Predicting</a:t>
            </a:r>
            <a:r>
              <a:rPr lang="de-DE" sz="2800" dirty="0">
                <a:effectLst/>
                <a:latin typeface="Helvetica Neue" panose="02000503000000020004" pitchFamily="2" charset="0"/>
              </a:rPr>
              <a:t> Career Domain and </a:t>
            </a:r>
            <a:r>
              <a:rPr lang="de-DE" sz="2800" dirty="0" err="1">
                <a:effectLst/>
                <a:latin typeface="Helvetica Neue" panose="02000503000000020004" pitchFamily="2" charset="0"/>
              </a:rPr>
              <a:t>Seniority</a:t>
            </a:r>
            <a:r>
              <a:rPr lang="de-DE" sz="2800" dirty="0">
                <a:effectLst/>
                <a:latin typeface="Helvetica Neue" panose="02000503000000020004" pitchFamily="2" charset="0"/>
              </a:rPr>
              <a:t> </a:t>
            </a:r>
            <a:r>
              <a:rPr lang="de-DE" sz="2800" dirty="0" err="1">
                <a:effectLst/>
                <a:latin typeface="Helvetica Neue" panose="02000503000000020004" pitchFamily="2" charset="0"/>
              </a:rPr>
              <a:t>from</a:t>
            </a:r>
            <a:r>
              <a:rPr lang="de-DE" sz="2800" dirty="0">
                <a:effectLst/>
                <a:latin typeface="Helvetica Neue" panose="02000503000000020004" pitchFamily="2" charset="0"/>
              </a:rPr>
              <a:t> LinkedIn </a:t>
            </a:r>
            <a:r>
              <a:rPr lang="de-DE" sz="2800" dirty="0" err="1">
                <a:effectLst/>
                <a:latin typeface="Helvetica Neue" panose="02000503000000020004" pitchFamily="2" charset="0"/>
              </a:rPr>
              <a:t>Profiles</a:t>
            </a:r>
            <a:br>
              <a:rPr lang="de-DE" sz="1050" dirty="0">
                <a:effectLst/>
                <a:latin typeface="Helvetica Neue" panose="02000503000000020004" pitchFamily="2" charset="0"/>
              </a:rPr>
            </a:br>
            <a:endParaRPr lang="en-US" sz="1800" b="0" dirty="0">
              <a:solidFill>
                <a:schemeClr val="accent5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9EA5650-C77C-C287-F7A2-41E123AADDED}"/>
              </a:ext>
            </a:extLst>
          </p:cNvPr>
          <p:cNvSpPr/>
          <p:nvPr/>
        </p:nvSpPr>
        <p:spPr>
          <a:xfrm>
            <a:off x="9897504" y="216977"/>
            <a:ext cx="2294496" cy="7904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432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BEF09B-6371-8D98-E477-7B12173E0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Seniority Data</a:t>
            </a:r>
          </a:p>
        </p:txBody>
      </p:sp>
      <p:pic>
        <p:nvPicPr>
          <p:cNvPr id="7" name="Inhaltsplatzhalter 6" descr="Ein Bild, das Diagramm, Reihe, Screenshot, Design enthält.&#10;&#10;Automatisch generierte Beschreibung">
            <a:extLst>
              <a:ext uri="{FF2B5EF4-FFF2-40B4-BE49-F238E27FC236}">
                <a16:creationId xmlns:a16="http://schemas.microsoft.com/office/drawing/2014/main" id="{33A11C37-21DB-50D9-3AA1-F7F822B945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06" y="1478756"/>
            <a:ext cx="10972800" cy="4572000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11CB3A-5385-4A37-28A0-ECC1033D02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5B91107-7D9A-ACDF-F5F5-DB709BA6FC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A4BE20A-284B-D3C9-FD7A-2CA7DFCDBFED}"/>
              </a:ext>
            </a:extLst>
          </p:cNvPr>
          <p:cNvSpPr/>
          <p:nvPr/>
        </p:nvSpPr>
        <p:spPr>
          <a:xfrm>
            <a:off x="9670943" y="5933224"/>
            <a:ext cx="2294496" cy="7904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4020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3CD8EE-2B3B-A31C-A2EE-542E38305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Department Data</a:t>
            </a:r>
          </a:p>
        </p:txBody>
      </p:sp>
      <p:pic>
        <p:nvPicPr>
          <p:cNvPr id="7" name="Inhaltsplatzhalter 6" descr="Ein Bild, das Diagramm, Reihe, Screenshot enthält.&#10;&#10;Automatisch generierte Beschreibung">
            <a:extLst>
              <a:ext uri="{FF2B5EF4-FFF2-40B4-BE49-F238E27FC236}">
                <a16:creationId xmlns:a16="http://schemas.microsoft.com/office/drawing/2014/main" id="{5DD674CA-5C5C-2EE0-3199-2443546193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06" y="1478756"/>
            <a:ext cx="10972800" cy="4572000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D068D8C-8BC8-DA9B-6C48-3DA8453D9F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EEFAD8D-FF5B-457B-72D6-742A188FD7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E7AC336-5E04-B5D3-3853-7A862B84F7C1}"/>
              </a:ext>
            </a:extLst>
          </p:cNvPr>
          <p:cNvSpPr/>
          <p:nvPr/>
        </p:nvSpPr>
        <p:spPr>
          <a:xfrm>
            <a:off x="9670943" y="5933224"/>
            <a:ext cx="2294496" cy="7904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5904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0063B6-78C3-350E-FB30-991E6257C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Our Approaches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03942634-9B32-80AF-0DCD-DDB35E11D5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4214469"/>
              </p:ext>
            </p:extLst>
          </p:nvPr>
        </p:nvGraphicFramePr>
        <p:xfrm>
          <a:off x="431800" y="1397000"/>
          <a:ext cx="10743423" cy="3535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7F38A8-FBC0-6CD2-DD0F-89722285FD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0224035-58C9-8E5B-083A-A1CC48B7F0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F3E628D-ED86-7C65-CAF5-98BD98A81968}"/>
              </a:ext>
            </a:extLst>
          </p:cNvPr>
          <p:cNvSpPr/>
          <p:nvPr/>
        </p:nvSpPr>
        <p:spPr>
          <a:xfrm>
            <a:off x="9670943" y="5933224"/>
            <a:ext cx="2294496" cy="7904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2324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4478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0063B6-78C3-350E-FB30-991E6257C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Experiments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7F38A8-FBC0-6CD2-DD0F-89722285FD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0224035-58C9-8E5B-083A-A1CC48B7F0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23D589E-28A3-D2E6-D456-ED2C1D87490C}"/>
              </a:ext>
            </a:extLst>
          </p:cNvPr>
          <p:cNvSpPr/>
          <p:nvPr/>
        </p:nvSpPr>
        <p:spPr>
          <a:xfrm>
            <a:off x="9670943" y="5933224"/>
            <a:ext cx="2294496" cy="7904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7365D56E-FD61-CD20-4AF6-E55AD4D40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sz="2000" dirty="0"/>
          </a:p>
          <a:p>
            <a:pPr marL="0" indent="0">
              <a:buNone/>
            </a:pPr>
            <a:r>
              <a:rPr lang="en-AU" sz="2000" dirty="0"/>
              <a:t>All our approaches were trained in 3 experiments:</a:t>
            </a:r>
          </a:p>
          <a:p>
            <a:pPr marL="0" indent="0">
              <a:buNone/>
            </a:pPr>
            <a:endParaRPr lang="en-AU" sz="2000" dirty="0"/>
          </a:p>
          <a:p>
            <a:pPr marL="919163" lvl="2" indent="-342900">
              <a:buAutoNum type="arabicPeriod"/>
            </a:pPr>
            <a:r>
              <a:rPr lang="en-AU" sz="2000" dirty="0"/>
              <a:t>Only training data</a:t>
            </a:r>
          </a:p>
          <a:p>
            <a:pPr marL="919163" lvl="2" indent="-342900">
              <a:buAutoNum type="arabicPeriod"/>
            </a:pPr>
            <a:r>
              <a:rPr lang="en-AU" sz="2000" dirty="0"/>
              <a:t>Augmented data</a:t>
            </a:r>
          </a:p>
          <a:p>
            <a:pPr marL="919163" lvl="2" indent="-342900">
              <a:buAutoNum type="arabicPeriod"/>
            </a:pPr>
            <a:r>
              <a:rPr lang="en-AU" sz="2000" dirty="0"/>
              <a:t>Oversampling</a:t>
            </a:r>
          </a:p>
          <a:p>
            <a:pPr marL="919163" lvl="2" indent="-342900">
              <a:buAutoNum type="arabicPeriod"/>
            </a:pPr>
            <a:endParaRPr lang="en-AU" sz="2000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2316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06D4BA-59C9-1B81-C852-23F02FA60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Dashboard</a:t>
            </a:r>
          </a:p>
        </p:txBody>
      </p:sp>
      <p:pic>
        <p:nvPicPr>
          <p:cNvPr id="7" name="Inhaltsplatzhalter 6" descr="Ein Bild, das Schrift, Grafiken, Logo, Clipart enthält.&#10;&#10;Automatisch generierte Beschreibung">
            <a:extLst>
              <a:ext uri="{FF2B5EF4-FFF2-40B4-BE49-F238E27FC236}">
                <a16:creationId xmlns:a16="http://schemas.microsoft.com/office/drawing/2014/main" id="{8B40E2FB-C2C3-973A-948B-38BE4CFCD1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853" y="2035834"/>
            <a:ext cx="3749147" cy="908534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526FBEB-D7B1-2518-2C57-1B0F934BEA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F64BD25-7746-34E6-3B92-E66A8C1505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Grafik 8" descr="Ein Bild, das Schrift, Logo, Grafiken, Design enthält.&#10;&#10;Automatisch generierte Beschreibung">
            <a:extLst>
              <a:ext uri="{FF2B5EF4-FFF2-40B4-BE49-F238E27FC236}">
                <a16:creationId xmlns:a16="http://schemas.microsoft.com/office/drawing/2014/main" id="{6D89E612-21FC-B4C4-7E2D-6F962082CC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32" y="1841828"/>
            <a:ext cx="1240563" cy="1240563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8AB2479E-BBA6-C89C-AEBE-57FC0AFD3063}"/>
              </a:ext>
            </a:extLst>
          </p:cNvPr>
          <p:cNvSpPr/>
          <p:nvPr/>
        </p:nvSpPr>
        <p:spPr>
          <a:xfrm>
            <a:off x="9670943" y="5933224"/>
            <a:ext cx="2294496" cy="7904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D355313-AF3C-5328-5A54-DAAA66EB997E}"/>
              </a:ext>
            </a:extLst>
          </p:cNvPr>
          <p:cNvSpPr txBox="1"/>
          <p:nvPr/>
        </p:nvSpPr>
        <p:spPr>
          <a:xfrm>
            <a:off x="901521" y="3704588"/>
            <a:ext cx="5911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Link:  </a:t>
            </a:r>
            <a:r>
              <a:rPr lang="de-DE" sz="2400" b="1" i="0" u="none" strike="noStrike" dirty="0">
                <a:solidFill>
                  <a:srgbClr val="0969DA"/>
                </a:solidFill>
                <a:effectLst/>
                <a:highlight>
                  <a:srgbClr val="FFFFFF"/>
                </a:highlight>
                <a:latin typeface="-apple-system"/>
                <a:hlinkClick r:id="rId5" tooltip="https://prediction-prototype.streamlit.app/"/>
              </a:rPr>
              <a:t>prediction-prototype.streamlit.app/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054966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C30E7-903E-7CD4-460F-4D596C8DE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fik 25">
            <a:extLst>
              <a:ext uri="{FF2B5EF4-FFF2-40B4-BE49-F238E27FC236}">
                <a16:creationId xmlns:a16="http://schemas.microsoft.com/office/drawing/2014/main" id="{65525015-374A-14FE-AC52-FFECEE4EC1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205935" y="1918800"/>
            <a:ext cx="1307419" cy="1307419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A9875D1D-3701-F8CB-A2FD-C5B70C1E29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24963" y="2033770"/>
            <a:ext cx="1508400" cy="127846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8C302853-6336-49BD-A0AB-AB482C8F43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32733" y="2033770"/>
            <a:ext cx="1508400" cy="127846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10F3DA9C-350E-7064-6D23-D5ACC28270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16616" y="2033770"/>
            <a:ext cx="1508400" cy="1278460"/>
          </a:xfrm>
          <a:prstGeom prst="rect">
            <a:avLst/>
          </a:prstGeom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B7EF8135-1C62-D4E9-5FEF-38DFD70F355D}"/>
              </a:ext>
            </a:extLst>
          </p:cNvPr>
          <p:cNvGrpSpPr/>
          <p:nvPr/>
        </p:nvGrpSpPr>
        <p:grpSpPr>
          <a:xfrm>
            <a:off x="432000" y="1510695"/>
            <a:ext cx="10907999" cy="4953604"/>
            <a:chOff x="433037" y="2191817"/>
            <a:chExt cx="9200252" cy="3901226"/>
          </a:xfrm>
        </p:grpSpPr>
        <p:sp>
          <p:nvSpPr>
            <p:cNvPr id="7" name="Gerade Verbindung 6">
              <a:extLst>
                <a:ext uri="{FF2B5EF4-FFF2-40B4-BE49-F238E27FC236}">
                  <a16:creationId xmlns:a16="http://schemas.microsoft.com/office/drawing/2014/main" id="{96A2D557-C7DF-3DA5-1CFC-F3094EFA33C5}"/>
                </a:ext>
              </a:extLst>
            </p:cNvPr>
            <p:cNvSpPr/>
            <p:nvPr/>
          </p:nvSpPr>
          <p:spPr>
            <a:xfrm>
              <a:off x="433037" y="2191820"/>
              <a:ext cx="0" cy="3901223"/>
            </a:xfrm>
            <a:prstGeom prst="line">
              <a:avLst/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8" name="Freihandform 7">
              <a:extLst>
                <a:ext uri="{FF2B5EF4-FFF2-40B4-BE49-F238E27FC236}">
                  <a16:creationId xmlns:a16="http://schemas.microsoft.com/office/drawing/2014/main" id="{D6ACCE6E-FBA2-EFD7-2A04-312B69E38D3F}"/>
                </a:ext>
              </a:extLst>
            </p:cNvPr>
            <p:cNvSpPr/>
            <p:nvPr/>
          </p:nvSpPr>
          <p:spPr>
            <a:xfrm>
              <a:off x="438616" y="3764756"/>
              <a:ext cx="1838248" cy="1838248"/>
            </a:xfrm>
            <a:custGeom>
              <a:avLst/>
              <a:gdLst>
                <a:gd name="connsiteX0" fmla="*/ 0 w 1838248"/>
                <a:gd name="connsiteY0" fmla="*/ 0 h 1838248"/>
                <a:gd name="connsiteX1" fmla="*/ 1838248 w 1838248"/>
                <a:gd name="connsiteY1" fmla="*/ 0 h 1838248"/>
                <a:gd name="connsiteX2" fmla="*/ 1838248 w 1838248"/>
                <a:gd name="connsiteY2" fmla="*/ 1838248 h 1838248"/>
                <a:gd name="connsiteX3" fmla="*/ 0 w 1838248"/>
                <a:gd name="connsiteY3" fmla="*/ 1838248 h 1838248"/>
                <a:gd name="connsiteX4" fmla="*/ 0 w 1838248"/>
                <a:gd name="connsiteY4" fmla="*/ 0 h 183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8248" h="1838248">
                  <a:moveTo>
                    <a:pt x="0" y="0"/>
                  </a:moveTo>
                  <a:lnTo>
                    <a:pt x="1838248" y="0"/>
                  </a:lnTo>
                  <a:lnTo>
                    <a:pt x="1838248" y="1838248"/>
                  </a:lnTo>
                  <a:lnTo>
                    <a:pt x="0" y="183824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anchor="t" anchorCtr="0">
              <a:noAutofit/>
            </a:bodyPr>
            <a:lstStyle/>
            <a:p>
              <a:pPr defTabSz="622300"/>
              <a:r>
                <a:rPr lang="de-DE" sz="1300" b="1">
                  <a:ea typeface="+mn-lt"/>
                  <a:cs typeface="+mn-lt"/>
                </a:rPr>
                <a:t>Strong </a:t>
              </a:r>
              <a:r>
                <a:rPr lang="de-DE" sz="1300" b="1" err="1">
                  <a:ea typeface="+mn-lt"/>
                  <a:cs typeface="+mn-lt"/>
                </a:rPr>
                <a:t>distribution</a:t>
              </a:r>
              <a:r>
                <a:rPr lang="de-DE" sz="1300" b="1">
                  <a:ea typeface="+mn-lt"/>
                  <a:cs typeface="+mn-lt"/>
                </a:rPr>
                <a:t> shift</a:t>
              </a:r>
              <a:endParaRPr lang="de-DE"/>
            </a:p>
            <a:p>
              <a:pPr marL="285750" indent="-285750" defTabSz="622300">
                <a:buFont typeface="Arial"/>
                <a:buChar char="•"/>
              </a:pPr>
              <a:r>
                <a:rPr lang="de-DE" sz="1300" err="1">
                  <a:ea typeface="+mn-lt"/>
                  <a:cs typeface="+mn-lt"/>
                </a:rPr>
                <a:t>Near-perfect</a:t>
              </a:r>
              <a:r>
                <a:rPr lang="de-DE" sz="1300">
                  <a:ea typeface="+mn-lt"/>
                  <a:cs typeface="+mn-lt"/>
                </a:rPr>
                <a:t> </a:t>
              </a:r>
              <a:r>
                <a:rPr lang="de-DE" sz="1300" err="1">
                  <a:ea typeface="+mn-lt"/>
                  <a:cs typeface="+mn-lt"/>
                </a:rPr>
                <a:t>performance</a:t>
              </a:r>
              <a:r>
                <a:rPr lang="de-DE" sz="1300">
                  <a:ea typeface="+mn-lt"/>
                  <a:cs typeface="+mn-lt"/>
                </a:rPr>
                <a:t> in-distribution</a:t>
              </a:r>
              <a:endParaRPr lang="de-DE"/>
            </a:p>
            <a:p>
              <a:pPr marL="285750" indent="-285750" defTabSz="622300">
                <a:buFont typeface="Arial"/>
                <a:buChar char="•"/>
              </a:pPr>
              <a:r>
                <a:rPr lang="de-DE" sz="1300" dirty="0">
                  <a:ea typeface="+mn-lt"/>
                  <a:cs typeface="+mn-lt"/>
                </a:rPr>
                <a:t>Strong </a:t>
              </a:r>
              <a:r>
                <a:rPr lang="de-DE" sz="1300" dirty="0" err="1">
                  <a:ea typeface="+mn-lt"/>
                  <a:cs typeface="+mn-lt"/>
                </a:rPr>
                <a:t>drop</a:t>
              </a:r>
              <a:r>
                <a:rPr lang="de-DE" sz="1300" dirty="0">
                  <a:ea typeface="+mn-lt"/>
                  <a:cs typeface="+mn-lt"/>
                </a:rPr>
                <a:t> on real CV </a:t>
              </a:r>
              <a:r>
                <a:rPr lang="de-DE" sz="1300" dirty="0" err="1">
                  <a:ea typeface="+mn-lt"/>
                  <a:cs typeface="+mn-lt"/>
                </a:rPr>
                <a:t>job</a:t>
              </a:r>
              <a:r>
                <a:rPr lang="de-DE" sz="1300" dirty="0">
                  <a:ea typeface="+mn-lt"/>
                  <a:cs typeface="+mn-lt"/>
                </a:rPr>
                <a:t> </a:t>
              </a:r>
              <a:r>
                <a:rPr lang="de-DE" sz="1300" dirty="0" err="1">
                  <a:ea typeface="+mn-lt"/>
                  <a:cs typeface="+mn-lt"/>
                </a:rPr>
                <a:t>titles</a:t>
              </a:r>
              <a:endParaRPr lang="de-DE" dirty="0" err="1"/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endParaRPr lang="de-DE" sz="1300" dirty="0">
                <a:cs typeface="Arial"/>
              </a:endParaRP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endParaRPr lang="de-DE" sz="1300" dirty="0"/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endParaRPr lang="de-DE" sz="1400" b="1" dirty="0">
                <a:cs typeface="Arial" panose="020B0604020202020204"/>
              </a:endParaRPr>
            </a:p>
          </p:txBody>
        </p:sp>
        <p:sp>
          <p:nvSpPr>
            <p:cNvPr id="10" name="Gerade Verbindung 9">
              <a:extLst>
                <a:ext uri="{FF2B5EF4-FFF2-40B4-BE49-F238E27FC236}">
                  <a16:creationId xmlns:a16="http://schemas.microsoft.com/office/drawing/2014/main" id="{69DC1A8D-C1CB-F05D-371B-61BB3DC96638}"/>
                </a:ext>
              </a:extLst>
            </p:cNvPr>
            <p:cNvSpPr/>
            <p:nvPr/>
          </p:nvSpPr>
          <p:spPr>
            <a:xfrm>
              <a:off x="2232295" y="2191820"/>
              <a:ext cx="44384" cy="3900883"/>
            </a:xfrm>
            <a:prstGeom prst="line">
              <a:avLst/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83382F1D-56C5-888E-2B7C-2BAB5173E40F}"/>
                </a:ext>
              </a:extLst>
            </p:cNvPr>
            <p:cNvSpPr/>
            <p:nvPr/>
          </p:nvSpPr>
          <p:spPr>
            <a:xfrm>
              <a:off x="2277723" y="3764756"/>
              <a:ext cx="1838248" cy="1838248"/>
            </a:xfrm>
            <a:custGeom>
              <a:avLst/>
              <a:gdLst>
                <a:gd name="connsiteX0" fmla="*/ 0 w 1838248"/>
                <a:gd name="connsiteY0" fmla="*/ 0 h 1838248"/>
                <a:gd name="connsiteX1" fmla="*/ 1838248 w 1838248"/>
                <a:gd name="connsiteY1" fmla="*/ 0 h 1838248"/>
                <a:gd name="connsiteX2" fmla="*/ 1838248 w 1838248"/>
                <a:gd name="connsiteY2" fmla="*/ 1838248 h 1838248"/>
                <a:gd name="connsiteX3" fmla="*/ 0 w 1838248"/>
                <a:gd name="connsiteY3" fmla="*/ 1838248 h 1838248"/>
                <a:gd name="connsiteX4" fmla="*/ 0 w 1838248"/>
                <a:gd name="connsiteY4" fmla="*/ 0 h 183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8248" h="1838248">
                  <a:moveTo>
                    <a:pt x="0" y="0"/>
                  </a:moveTo>
                  <a:lnTo>
                    <a:pt x="1838248" y="0"/>
                  </a:lnTo>
                  <a:lnTo>
                    <a:pt x="1838248" y="1838248"/>
                  </a:lnTo>
                  <a:lnTo>
                    <a:pt x="0" y="183824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anchor="t" anchorCtr="0">
              <a:noAutofit/>
            </a:bodyPr>
            <a:lstStyle/>
            <a:p>
              <a:pPr defTabSz="622300"/>
              <a:r>
                <a:rPr lang="de-DE" sz="1300" b="1" dirty="0" err="1"/>
                <a:t>Synthetic</a:t>
              </a:r>
              <a:r>
                <a:rPr lang="de-DE" sz="1300" b="1" dirty="0"/>
                <a:t> Data </a:t>
              </a:r>
              <a:r>
                <a:rPr lang="de-DE" sz="1300" b="1" dirty="0" err="1"/>
                <a:t>Improves</a:t>
              </a:r>
              <a:endParaRPr lang="de-DE" sz="1300" b="1" dirty="0" err="1">
                <a:cs typeface="Arial"/>
              </a:endParaRPr>
            </a:p>
            <a:p>
              <a:pPr marL="285750" indent="-285750" defTabSz="622300">
                <a:buFont typeface="Arial"/>
                <a:buChar char="•"/>
              </a:pPr>
              <a:r>
                <a:rPr lang="de-DE" sz="1300"/>
                <a:t>Clear</a:t>
              </a:r>
              <a:r>
                <a:rPr lang="de-DE" sz="1300">
                  <a:ea typeface="+mn-lt"/>
                  <a:cs typeface="+mn-lt"/>
                </a:rPr>
                <a:t> performance gains for seniority and department</a:t>
              </a:r>
              <a:endParaRPr lang="de-DE">
                <a:cs typeface="Arial" panose="020B0604020202020204"/>
              </a:endParaRPr>
            </a:p>
            <a:p>
              <a:pPr marL="285750" indent="-285750" defTabSz="622300">
                <a:buFont typeface="Arial"/>
                <a:buChar char="•"/>
              </a:pPr>
              <a:r>
                <a:rPr lang="de-DE" sz="1300" err="1">
                  <a:ea typeface="+mn-lt"/>
                  <a:cs typeface="+mn-lt"/>
                </a:rPr>
                <a:t>Especially</a:t>
              </a:r>
              <a:r>
                <a:rPr lang="de-DE" sz="1300">
                  <a:ea typeface="+mn-lt"/>
                  <a:cs typeface="+mn-lt"/>
                </a:rPr>
                <a:t> </a:t>
              </a:r>
              <a:r>
                <a:rPr lang="de-DE" sz="1300" err="1">
                  <a:ea typeface="+mn-lt"/>
                  <a:cs typeface="+mn-lt"/>
                </a:rPr>
                <a:t>improves</a:t>
              </a:r>
              <a:r>
                <a:rPr lang="de-DE" sz="1300">
                  <a:ea typeface="+mn-lt"/>
                  <a:cs typeface="+mn-lt"/>
                </a:rPr>
                <a:t> </a:t>
              </a:r>
              <a:r>
                <a:rPr lang="de-DE" sz="1300" err="1">
                  <a:ea typeface="+mn-lt"/>
                  <a:cs typeface="+mn-lt"/>
                </a:rPr>
                <a:t>robustness</a:t>
              </a:r>
              <a:r>
                <a:rPr lang="de-DE" sz="1300">
                  <a:ea typeface="+mn-lt"/>
                  <a:cs typeface="+mn-lt"/>
                </a:rPr>
                <a:t> on real-</a:t>
              </a:r>
              <a:r>
                <a:rPr lang="de-DE" sz="1300" err="1">
                  <a:ea typeface="+mn-lt"/>
                  <a:cs typeface="+mn-lt"/>
                </a:rPr>
                <a:t>world</a:t>
              </a:r>
              <a:r>
                <a:rPr lang="de-DE" sz="1300">
                  <a:ea typeface="+mn-lt"/>
                  <a:cs typeface="+mn-lt"/>
                </a:rPr>
                <a:t> data</a:t>
              </a:r>
              <a:endParaRPr lang="de-DE"/>
            </a:p>
            <a:p>
              <a:pPr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de-DE" sz="1300" b="1" dirty="0">
                <a:cs typeface="Arial"/>
              </a:endParaRPr>
            </a:p>
          </p:txBody>
        </p:sp>
        <p:sp>
          <p:nvSpPr>
            <p:cNvPr id="14" name="Gerade Verbindung 13">
              <a:extLst>
                <a:ext uri="{FF2B5EF4-FFF2-40B4-BE49-F238E27FC236}">
                  <a16:creationId xmlns:a16="http://schemas.microsoft.com/office/drawing/2014/main" id="{D31ECDD4-6945-3EC1-E756-349E7508E623}"/>
                </a:ext>
              </a:extLst>
            </p:cNvPr>
            <p:cNvSpPr/>
            <p:nvPr/>
          </p:nvSpPr>
          <p:spPr>
            <a:xfrm>
              <a:off x="4070360" y="2191819"/>
              <a:ext cx="4511" cy="3901223"/>
            </a:xfrm>
            <a:prstGeom prst="line">
              <a:avLst/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5" name="Freihandform 14">
              <a:extLst>
                <a:ext uri="{FF2B5EF4-FFF2-40B4-BE49-F238E27FC236}">
                  <a16:creationId xmlns:a16="http://schemas.microsoft.com/office/drawing/2014/main" id="{EE0E2CDE-56C1-7266-1CF3-D6E9CE9F63A8}"/>
                </a:ext>
              </a:extLst>
            </p:cNvPr>
            <p:cNvSpPr/>
            <p:nvPr/>
          </p:nvSpPr>
          <p:spPr>
            <a:xfrm>
              <a:off x="4116829" y="3764756"/>
              <a:ext cx="1838248" cy="2065659"/>
            </a:xfrm>
            <a:custGeom>
              <a:avLst/>
              <a:gdLst>
                <a:gd name="connsiteX0" fmla="*/ 0 w 1838248"/>
                <a:gd name="connsiteY0" fmla="*/ 0 h 1838248"/>
                <a:gd name="connsiteX1" fmla="*/ 1838248 w 1838248"/>
                <a:gd name="connsiteY1" fmla="*/ 0 h 1838248"/>
                <a:gd name="connsiteX2" fmla="*/ 1838248 w 1838248"/>
                <a:gd name="connsiteY2" fmla="*/ 1838248 h 1838248"/>
                <a:gd name="connsiteX3" fmla="*/ 0 w 1838248"/>
                <a:gd name="connsiteY3" fmla="*/ 1838248 h 1838248"/>
                <a:gd name="connsiteX4" fmla="*/ 0 w 1838248"/>
                <a:gd name="connsiteY4" fmla="*/ 0 h 183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8248" h="1838248">
                  <a:moveTo>
                    <a:pt x="0" y="0"/>
                  </a:moveTo>
                  <a:lnTo>
                    <a:pt x="1838248" y="0"/>
                  </a:lnTo>
                  <a:lnTo>
                    <a:pt x="1838248" y="1838248"/>
                  </a:lnTo>
                  <a:lnTo>
                    <a:pt x="0" y="183824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anchor="t" anchorCtr="0">
              <a:noAutofit/>
            </a:bodyPr>
            <a:lstStyle/>
            <a:p>
              <a:pPr defTabSz="622300"/>
              <a:r>
                <a:rPr lang="de-DE" sz="1300" b="1">
                  <a:ea typeface="+mn-lt"/>
                  <a:cs typeface="+mn-lt"/>
                </a:rPr>
                <a:t>Per-</a:t>
              </a:r>
              <a:r>
                <a:rPr lang="de-DE" sz="1300" b="1" err="1">
                  <a:ea typeface="+mn-lt"/>
                  <a:cs typeface="+mn-lt"/>
                </a:rPr>
                <a:t>class</a:t>
              </a:r>
              <a:r>
                <a:rPr lang="de-DE" sz="1300" b="1">
                  <a:ea typeface="+mn-lt"/>
                  <a:cs typeface="+mn-lt"/>
                </a:rPr>
                <a:t> </a:t>
              </a:r>
              <a:r>
                <a:rPr lang="de-DE" sz="1300" b="1" err="1">
                  <a:ea typeface="+mn-lt"/>
                  <a:cs typeface="+mn-lt"/>
                </a:rPr>
                <a:t>improvements</a:t>
              </a:r>
              <a:endParaRPr lang="de-DE" err="1"/>
            </a:p>
            <a:p>
              <a:pPr marL="285750" indent="-285750" defTabSz="622300">
                <a:buFont typeface="Arial"/>
                <a:buChar char="•"/>
              </a:pPr>
              <a:r>
                <a:rPr lang="de-DE" sz="1300" b="1" dirty="0" err="1">
                  <a:ea typeface="+mn-lt"/>
                  <a:cs typeface="+mn-lt"/>
                </a:rPr>
                <a:t>Seniority</a:t>
              </a:r>
              <a:r>
                <a:rPr lang="de-DE" sz="1300" b="1" dirty="0">
                  <a:ea typeface="+mn-lt"/>
                  <a:cs typeface="+mn-lt"/>
                </a:rPr>
                <a:t>:</a:t>
              </a:r>
              <a:r>
                <a:rPr lang="de-DE" sz="1300" dirty="0">
                  <a:ea typeface="+mn-lt"/>
                  <a:cs typeface="+mn-lt"/>
                </a:rPr>
                <a:t> </a:t>
              </a:r>
              <a:r>
                <a:rPr lang="de-DE" sz="1300" i="1" dirty="0">
                  <a:ea typeface="+mn-lt"/>
                  <a:cs typeface="+mn-lt"/>
                </a:rPr>
                <a:t>Professional</a:t>
              </a:r>
              <a:r>
                <a:rPr lang="de-DE" sz="1300" dirty="0">
                  <a:ea typeface="+mn-lt"/>
                  <a:cs typeface="+mn-lt"/>
                </a:rPr>
                <a:t> </a:t>
              </a:r>
              <a:r>
                <a:rPr lang="de-DE" sz="1300" dirty="0" err="1">
                  <a:ea typeface="+mn-lt"/>
                  <a:cs typeface="+mn-lt"/>
                </a:rPr>
                <a:t>becomes</a:t>
              </a:r>
              <a:r>
                <a:rPr lang="de-DE" sz="1300" dirty="0">
                  <a:ea typeface="+mn-lt"/>
                  <a:cs typeface="+mn-lt"/>
                </a:rPr>
                <a:t> </a:t>
              </a:r>
              <a:r>
                <a:rPr lang="de-DE" sz="1300" dirty="0" err="1">
                  <a:ea typeface="+mn-lt"/>
                  <a:cs typeface="+mn-lt"/>
                </a:rPr>
                <a:t>predictable</a:t>
              </a:r>
              <a:r>
                <a:rPr lang="de-DE" sz="1300" dirty="0">
                  <a:ea typeface="+mn-lt"/>
                  <a:cs typeface="+mn-lt"/>
                </a:rPr>
                <a:t> (</a:t>
              </a:r>
              <a:r>
                <a:rPr lang="de-DE" sz="1300" dirty="0" err="1">
                  <a:ea typeface="+mn-lt"/>
                  <a:cs typeface="+mn-lt"/>
                </a:rPr>
                <a:t>previous</a:t>
              </a:r>
              <a:r>
                <a:rPr lang="de-DE" sz="1300" dirty="0">
                  <a:ea typeface="+mn-lt"/>
                  <a:cs typeface="+mn-lt"/>
                </a:rPr>
                <a:t> </a:t>
              </a:r>
              <a:r>
                <a:rPr lang="de-DE" sz="1300" dirty="0" err="1">
                  <a:ea typeface="+mn-lt"/>
                  <a:cs typeface="+mn-lt"/>
                </a:rPr>
                <a:t>major</a:t>
              </a:r>
              <a:r>
                <a:rPr lang="de-DE" sz="1300" dirty="0">
                  <a:ea typeface="+mn-lt"/>
                  <a:cs typeface="+mn-lt"/>
                </a:rPr>
                <a:t> </a:t>
              </a:r>
              <a:r>
                <a:rPr lang="de-DE" sz="1300" dirty="0" err="1">
                  <a:ea typeface="+mn-lt"/>
                  <a:cs typeface="+mn-lt"/>
                </a:rPr>
                <a:t>confusion</a:t>
              </a:r>
              <a:r>
                <a:rPr lang="de-DE" sz="1300" dirty="0">
                  <a:ea typeface="+mn-lt"/>
                  <a:cs typeface="+mn-lt"/>
                </a:rPr>
                <a:t>)</a:t>
              </a:r>
              <a:endParaRPr lang="de-DE" dirty="0"/>
            </a:p>
            <a:p>
              <a:pPr marL="285750" indent="-285750" defTabSz="622300">
                <a:buFont typeface="Arial"/>
                <a:buChar char="•"/>
              </a:pPr>
              <a:r>
                <a:rPr lang="de-DE" sz="1300" b="1" dirty="0">
                  <a:ea typeface="+mn-lt"/>
                  <a:cs typeface="+mn-lt"/>
                </a:rPr>
                <a:t>Department:</a:t>
              </a:r>
              <a:r>
                <a:rPr lang="de-DE" sz="1300" dirty="0">
                  <a:ea typeface="+mn-lt"/>
                  <a:cs typeface="+mn-lt"/>
                </a:rPr>
                <a:t> </a:t>
              </a:r>
              <a:r>
                <a:rPr lang="de-DE" sz="1300" i="1" dirty="0">
                  <a:ea typeface="+mn-lt"/>
                  <a:cs typeface="+mn-lt"/>
                </a:rPr>
                <a:t>Other</a:t>
              </a:r>
              <a:r>
                <a:rPr lang="de-DE" sz="1300" dirty="0">
                  <a:ea typeface="+mn-lt"/>
                  <a:cs typeface="+mn-lt"/>
                </a:rPr>
                <a:t> </a:t>
              </a:r>
              <a:r>
                <a:rPr lang="de-DE" sz="1300" dirty="0" err="1">
                  <a:ea typeface="+mn-lt"/>
                  <a:cs typeface="+mn-lt"/>
                </a:rPr>
                <a:t>is</a:t>
              </a:r>
              <a:r>
                <a:rPr lang="de-DE" sz="1300" dirty="0">
                  <a:ea typeface="+mn-lt"/>
                  <a:cs typeface="+mn-lt"/>
                </a:rPr>
                <a:t> </a:t>
              </a:r>
              <a:r>
                <a:rPr lang="de-DE" sz="1300" dirty="0" err="1">
                  <a:ea typeface="+mn-lt"/>
                  <a:cs typeface="+mn-lt"/>
                </a:rPr>
                <a:t>classified</a:t>
              </a:r>
              <a:r>
                <a:rPr lang="de-DE" sz="1300" dirty="0">
                  <a:ea typeface="+mn-lt"/>
                  <a:cs typeface="+mn-lt"/>
                </a:rPr>
                <a:t> </a:t>
              </a:r>
              <a:r>
                <a:rPr lang="de-DE" sz="1300" dirty="0" err="1">
                  <a:ea typeface="+mn-lt"/>
                  <a:cs typeface="+mn-lt"/>
                </a:rPr>
                <a:t>more</a:t>
              </a:r>
              <a:r>
                <a:rPr lang="de-DE" sz="1300" dirty="0">
                  <a:ea typeface="+mn-lt"/>
                  <a:cs typeface="+mn-lt"/>
                </a:rPr>
                <a:t> </a:t>
              </a:r>
              <a:r>
                <a:rPr lang="de-DE" sz="1300" dirty="0" err="1">
                  <a:ea typeface="+mn-lt"/>
                  <a:cs typeface="+mn-lt"/>
                </a:rPr>
                <a:t>reliably</a:t>
              </a:r>
              <a:endParaRPr lang="de-DE" dirty="0" err="1"/>
            </a:p>
            <a:p>
              <a:pPr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</a:pPr>
              <a:endParaRPr lang="de-DE" sz="1400" b="1" dirty="0">
                <a:cs typeface="Arial"/>
              </a:endParaRPr>
            </a:p>
          </p:txBody>
        </p:sp>
        <p:sp>
          <p:nvSpPr>
            <p:cNvPr id="17" name="Gerade Verbindung 16">
              <a:extLst>
                <a:ext uri="{FF2B5EF4-FFF2-40B4-BE49-F238E27FC236}">
                  <a16:creationId xmlns:a16="http://schemas.microsoft.com/office/drawing/2014/main" id="{9799CAAE-7FD6-F0BA-88E0-DDB08F6F95E9}"/>
                </a:ext>
              </a:extLst>
            </p:cNvPr>
            <p:cNvSpPr/>
            <p:nvPr/>
          </p:nvSpPr>
          <p:spPr>
            <a:xfrm flipH="1">
              <a:off x="5950381" y="2191819"/>
              <a:ext cx="4511" cy="3901223"/>
            </a:xfrm>
            <a:prstGeom prst="line">
              <a:avLst/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8" name="Freihandform 17">
              <a:extLst>
                <a:ext uri="{FF2B5EF4-FFF2-40B4-BE49-F238E27FC236}">
                  <a16:creationId xmlns:a16="http://schemas.microsoft.com/office/drawing/2014/main" id="{E5D0DEFE-3165-2360-2626-1E018868CFE1}"/>
                </a:ext>
              </a:extLst>
            </p:cNvPr>
            <p:cNvSpPr/>
            <p:nvPr/>
          </p:nvSpPr>
          <p:spPr>
            <a:xfrm>
              <a:off x="5955935" y="3764756"/>
              <a:ext cx="1838248" cy="1838248"/>
            </a:xfrm>
            <a:custGeom>
              <a:avLst/>
              <a:gdLst>
                <a:gd name="connsiteX0" fmla="*/ 0 w 1838248"/>
                <a:gd name="connsiteY0" fmla="*/ 0 h 1838248"/>
                <a:gd name="connsiteX1" fmla="*/ 1838248 w 1838248"/>
                <a:gd name="connsiteY1" fmla="*/ 0 h 1838248"/>
                <a:gd name="connsiteX2" fmla="*/ 1838248 w 1838248"/>
                <a:gd name="connsiteY2" fmla="*/ 1838248 h 1838248"/>
                <a:gd name="connsiteX3" fmla="*/ 0 w 1838248"/>
                <a:gd name="connsiteY3" fmla="*/ 1838248 h 1838248"/>
                <a:gd name="connsiteX4" fmla="*/ 0 w 1838248"/>
                <a:gd name="connsiteY4" fmla="*/ 0 h 183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8248" h="1838248">
                  <a:moveTo>
                    <a:pt x="0" y="0"/>
                  </a:moveTo>
                  <a:lnTo>
                    <a:pt x="1838248" y="0"/>
                  </a:lnTo>
                  <a:lnTo>
                    <a:pt x="1838248" y="1838248"/>
                  </a:lnTo>
                  <a:lnTo>
                    <a:pt x="0" y="183824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anchor="t" anchorCtr="0">
              <a:noAutofit/>
            </a:bodyPr>
            <a:lstStyle/>
            <a:p>
              <a:pPr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300" b="1" dirty="0" err="1"/>
                <a:t>Oversampling</a:t>
              </a:r>
              <a:endParaRPr lang="de-DE" sz="1300" b="1" dirty="0" err="1">
                <a:cs typeface="Arial" panose="020B0604020202020204"/>
              </a:endParaRPr>
            </a:p>
            <a:p>
              <a:pPr marL="285750" indent="-285750" defTabSz="622300">
                <a:buFont typeface="Arial"/>
                <a:buChar char="•"/>
              </a:pPr>
              <a:r>
                <a:rPr lang="de-DE" sz="1300" dirty="0" err="1">
                  <a:ea typeface="+mn-lt"/>
                  <a:cs typeface="+mn-lt"/>
                </a:rPr>
                <a:t>Helpful</a:t>
              </a:r>
              <a:r>
                <a:rPr lang="de-DE" sz="1300" dirty="0">
                  <a:ea typeface="+mn-lt"/>
                  <a:cs typeface="+mn-lt"/>
                </a:rPr>
                <a:t> in </a:t>
              </a:r>
              <a:r>
                <a:rPr lang="de-DE" sz="1300" dirty="0" err="1">
                  <a:ea typeface="+mn-lt"/>
                  <a:cs typeface="+mn-lt"/>
                </a:rPr>
                <a:t>some</a:t>
              </a:r>
              <a:r>
                <a:rPr lang="de-DE" sz="1300" dirty="0">
                  <a:ea typeface="+mn-lt"/>
                  <a:cs typeface="+mn-lt"/>
                </a:rPr>
                <a:t> </a:t>
              </a:r>
              <a:r>
                <a:rPr lang="de-DE" sz="1300" dirty="0" err="1">
                  <a:ea typeface="+mn-lt"/>
                  <a:cs typeface="+mn-lt"/>
                </a:rPr>
                <a:t>cases</a:t>
              </a:r>
              <a:r>
                <a:rPr lang="de-DE" sz="1300" dirty="0">
                  <a:ea typeface="+mn-lt"/>
                  <a:cs typeface="+mn-lt"/>
                </a:rPr>
                <a:t>, but not </a:t>
              </a:r>
              <a:r>
                <a:rPr lang="de-DE" sz="1300" dirty="0" err="1">
                  <a:ea typeface="+mn-lt"/>
                  <a:cs typeface="+mn-lt"/>
                </a:rPr>
                <a:t>consistently</a:t>
              </a:r>
              <a:r>
                <a:rPr lang="de-DE" sz="1300" dirty="0">
                  <a:ea typeface="+mn-lt"/>
                  <a:cs typeface="+mn-lt"/>
                </a:rPr>
                <a:t> </a:t>
              </a:r>
              <a:r>
                <a:rPr lang="de-DE" sz="1300" dirty="0" err="1">
                  <a:ea typeface="+mn-lt"/>
                  <a:cs typeface="+mn-lt"/>
                </a:rPr>
                <a:t>beneficial</a:t>
              </a:r>
              <a:endParaRPr lang="de-DE" dirty="0" err="1"/>
            </a:p>
            <a:p>
              <a:pPr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de-DE" sz="1300" dirty="0">
                <a:cs typeface="Arial"/>
              </a:endParaRP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endParaRPr lang="de-DE" sz="1300" kern="1200" dirty="0"/>
            </a:p>
          </p:txBody>
        </p:sp>
        <p:sp>
          <p:nvSpPr>
            <p:cNvPr id="20" name="Gerade Verbindung 19">
              <a:extLst>
                <a:ext uri="{FF2B5EF4-FFF2-40B4-BE49-F238E27FC236}">
                  <a16:creationId xmlns:a16="http://schemas.microsoft.com/office/drawing/2014/main" id="{8404AEB7-1BEC-A541-F92B-59180EE66216}"/>
                </a:ext>
              </a:extLst>
            </p:cNvPr>
            <p:cNvSpPr/>
            <p:nvPr/>
          </p:nvSpPr>
          <p:spPr>
            <a:xfrm>
              <a:off x="7753297" y="2191817"/>
              <a:ext cx="40886" cy="3898388"/>
            </a:xfrm>
            <a:prstGeom prst="line">
              <a:avLst/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1" name="Freihandform 20">
              <a:extLst>
                <a:ext uri="{FF2B5EF4-FFF2-40B4-BE49-F238E27FC236}">
                  <a16:creationId xmlns:a16="http://schemas.microsoft.com/office/drawing/2014/main" id="{C06DF458-08FE-00FD-FE06-1439C6D51119}"/>
                </a:ext>
              </a:extLst>
            </p:cNvPr>
            <p:cNvSpPr/>
            <p:nvPr/>
          </p:nvSpPr>
          <p:spPr>
            <a:xfrm>
              <a:off x="7795041" y="3764756"/>
              <a:ext cx="1838248" cy="1980379"/>
            </a:xfrm>
            <a:custGeom>
              <a:avLst/>
              <a:gdLst>
                <a:gd name="connsiteX0" fmla="*/ 0 w 1838248"/>
                <a:gd name="connsiteY0" fmla="*/ 0 h 1838248"/>
                <a:gd name="connsiteX1" fmla="*/ 1838248 w 1838248"/>
                <a:gd name="connsiteY1" fmla="*/ 0 h 1838248"/>
                <a:gd name="connsiteX2" fmla="*/ 1838248 w 1838248"/>
                <a:gd name="connsiteY2" fmla="*/ 1838248 h 1838248"/>
                <a:gd name="connsiteX3" fmla="*/ 0 w 1838248"/>
                <a:gd name="connsiteY3" fmla="*/ 1838248 h 1838248"/>
                <a:gd name="connsiteX4" fmla="*/ 0 w 1838248"/>
                <a:gd name="connsiteY4" fmla="*/ 0 h 183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8248" h="1838248">
                  <a:moveTo>
                    <a:pt x="0" y="0"/>
                  </a:moveTo>
                  <a:lnTo>
                    <a:pt x="1838248" y="0"/>
                  </a:lnTo>
                  <a:lnTo>
                    <a:pt x="1838248" y="1838248"/>
                  </a:lnTo>
                  <a:lnTo>
                    <a:pt x="0" y="183824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anchor="t" anchorCtr="0">
              <a:noAutofit/>
            </a:bodyPr>
            <a:lstStyle/>
            <a:p>
              <a:pPr lvl="0" algn="l" defTabSz="622300">
                <a:buNone/>
              </a:pPr>
              <a:r>
                <a:rPr lang="de-DE" sz="1300" b="1" dirty="0" err="1">
                  <a:ea typeface="+mn-lt"/>
                  <a:cs typeface="+mn-lt"/>
                </a:rPr>
                <a:t>Remaining</a:t>
              </a:r>
              <a:r>
                <a:rPr lang="de-DE" sz="1300" b="1" dirty="0">
                  <a:ea typeface="+mn-lt"/>
                  <a:cs typeface="+mn-lt"/>
                </a:rPr>
                <a:t> </a:t>
              </a:r>
              <a:r>
                <a:rPr lang="de-DE" sz="1300" b="1" dirty="0" err="1">
                  <a:ea typeface="+mn-lt"/>
                  <a:cs typeface="+mn-lt"/>
                </a:rPr>
                <a:t>challenges</a:t>
              </a:r>
              <a:endParaRPr lang="de-DE" dirty="0" err="1"/>
            </a:p>
            <a:p>
              <a:pPr marL="285750" indent="-285750" defTabSz="622300">
                <a:buFont typeface="Arial"/>
                <a:buChar char="•"/>
              </a:pPr>
              <a:r>
                <a:rPr lang="de-DE" sz="1300" b="1" dirty="0" err="1">
                  <a:ea typeface="+mn-lt"/>
                  <a:cs typeface="+mn-lt"/>
                </a:rPr>
                <a:t>Seniority</a:t>
              </a:r>
              <a:r>
                <a:rPr lang="de-DE" sz="1300" b="1" dirty="0">
                  <a:ea typeface="+mn-lt"/>
                  <a:cs typeface="+mn-lt"/>
                </a:rPr>
                <a:t>:</a:t>
              </a:r>
              <a:r>
                <a:rPr lang="de-DE" sz="1300" dirty="0">
                  <a:ea typeface="+mn-lt"/>
                  <a:cs typeface="+mn-lt"/>
                </a:rPr>
                <a:t> </a:t>
              </a:r>
              <a:r>
                <a:rPr lang="de-DE" sz="1300" dirty="0" err="1">
                  <a:ea typeface="+mn-lt"/>
                  <a:cs typeface="+mn-lt"/>
                </a:rPr>
                <a:t>Confusions</a:t>
              </a:r>
              <a:r>
                <a:rPr lang="de-DE" sz="1300" dirty="0">
                  <a:ea typeface="+mn-lt"/>
                  <a:cs typeface="+mn-lt"/>
                </a:rPr>
                <a:t> </a:t>
              </a:r>
              <a:r>
                <a:rPr lang="de-DE" sz="1300" dirty="0" err="1">
                  <a:ea typeface="+mn-lt"/>
                  <a:cs typeface="+mn-lt"/>
                </a:rPr>
                <a:t>mainly</a:t>
              </a:r>
              <a:r>
                <a:rPr lang="de-DE" sz="1300" dirty="0">
                  <a:ea typeface="+mn-lt"/>
                  <a:cs typeface="+mn-lt"/>
                </a:rPr>
                <a:t> </a:t>
              </a:r>
              <a:r>
                <a:rPr lang="de-DE" sz="1300" dirty="0" err="1">
                  <a:ea typeface="+mn-lt"/>
                  <a:cs typeface="+mn-lt"/>
                </a:rPr>
                <a:t>between</a:t>
              </a:r>
              <a:r>
                <a:rPr lang="de-DE" sz="1300" dirty="0">
                  <a:ea typeface="+mn-lt"/>
                  <a:cs typeface="+mn-lt"/>
                </a:rPr>
                <a:t> </a:t>
              </a:r>
              <a:r>
                <a:rPr lang="de-DE" sz="1300" dirty="0" err="1">
                  <a:ea typeface="+mn-lt"/>
                  <a:cs typeface="+mn-lt"/>
                </a:rPr>
                <a:t>neighboring</a:t>
              </a:r>
              <a:r>
                <a:rPr lang="de-DE" sz="1300" dirty="0">
                  <a:ea typeface="+mn-lt"/>
                  <a:cs typeface="+mn-lt"/>
                </a:rPr>
                <a:t> </a:t>
              </a:r>
              <a:r>
                <a:rPr lang="de-DE" sz="1300" dirty="0" err="1">
                  <a:ea typeface="+mn-lt"/>
                  <a:cs typeface="+mn-lt"/>
                </a:rPr>
                <a:t>levels</a:t>
              </a:r>
              <a:endParaRPr lang="de-DE" dirty="0" err="1"/>
            </a:p>
            <a:p>
              <a:pPr marL="285750" indent="-285750" defTabSz="622300">
                <a:buFont typeface="Arial"/>
                <a:buChar char="•"/>
              </a:pPr>
              <a:r>
                <a:rPr lang="de-DE" sz="1300" b="1" dirty="0">
                  <a:ea typeface="+mn-lt"/>
                  <a:cs typeface="+mn-lt"/>
                </a:rPr>
                <a:t>Department:</a:t>
              </a:r>
              <a:r>
                <a:rPr lang="de-DE" sz="1300" dirty="0">
                  <a:ea typeface="+mn-lt"/>
                  <a:cs typeface="+mn-lt"/>
                </a:rPr>
                <a:t> Frequent </a:t>
              </a:r>
              <a:r>
                <a:rPr lang="de-DE" sz="1300" dirty="0" err="1">
                  <a:ea typeface="+mn-lt"/>
                  <a:cs typeface="+mn-lt"/>
                </a:rPr>
                <a:t>confusion</a:t>
              </a:r>
              <a:r>
                <a:rPr lang="de-DE" sz="1300" dirty="0">
                  <a:ea typeface="+mn-lt"/>
                  <a:cs typeface="+mn-lt"/>
                </a:rPr>
                <a:t> </a:t>
              </a:r>
              <a:r>
                <a:rPr lang="de-DE" sz="1300" dirty="0" err="1">
                  <a:ea typeface="+mn-lt"/>
                  <a:cs typeface="+mn-lt"/>
                </a:rPr>
                <a:t>between</a:t>
              </a:r>
              <a:r>
                <a:rPr lang="de-DE" sz="1300" dirty="0">
                  <a:ea typeface="+mn-lt"/>
                  <a:cs typeface="+mn-lt"/>
                </a:rPr>
                <a:t> </a:t>
              </a:r>
              <a:r>
                <a:rPr lang="de-DE" sz="1300" i="1" dirty="0">
                  <a:ea typeface="+mn-lt"/>
                  <a:cs typeface="+mn-lt"/>
                </a:rPr>
                <a:t>Other</a:t>
              </a:r>
              <a:r>
                <a:rPr lang="de-DE" sz="1300" dirty="0">
                  <a:ea typeface="+mn-lt"/>
                  <a:cs typeface="+mn-lt"/>
                </a:rPr>
                <a:t> and </a:t>
              </a:r>
              <a:r>
                <a:rPr lang="de-DE" sz="1300" i="1" dirty="0">
                  <a:ea typeface="+mn-lt"/>
                  <a:cs typeface="+mn-lt"/>
                </a:rPr>
                <a:t>Business Development</a:t>
              </a:r>
              <a:endParaRPr lang="de-DE" i="1" dirty="0">
                <a:ea typeface="+mn-lt"/>
                <a:cs typeface="+mn-lt"/>
              </a:endParaRPr>
            </a:p>
            <a:p>
              <a:pPr marL="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endParaRPr lang="de-DE" sz="1300" b="1" kern="1200" dirty="0">
                <a:cs typeface="Arial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1CDB6FB5-7562-548C-0015-FEEF5AD5D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671" y="512384"/>
            <a:ext cx="9070329" cy="716587"/>
          </a:xfrm>
        </p:spPr>
        <p:txBody>
          <a:bodyPr anchor="ctr">
            <a:normAutofit/>
          </a:bodyPr>
          <a:lstStyle/>
          <a:p>
            <a:r>
              <a:rPr lang="en-AU" dirty="0"/>
              <a:t>Conclusion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67955E-DFBC-785E-FE31-CC364BDB28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32000" y="6464299"/>
            <a:ext cx="746180" cy="1492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DBE8D993-E95F-491F-9987-D09E7E644F2F}" type="slidenum">
              <a:rPr lang="en-US" sz="400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sz="40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E13EC79-9C9E-7FC4-F7D9-D088FF67E0E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326" y="2034616"/>
            <a:ext cx="1508470" cy="1280298"/>
          </a:xfrm>
          <a:prstGeom prst="rect">
            <a:avLst/>
          </a:prstGeom>
        </p:spPr>
      </p:pic>
      <p:sp>
        <p:nvSpPr>
          <p:cNvPr id="27" name="Rechteck 26">
            <a:extLst>
              <a:ext uri="{FF2B5EF4-FFF2-40B4-BE49-F238E27FC236}">
                <a16:creationId xmlns:a16="http://schemas.microsoft.com/office/drawing/2014/main" id="{CB5A03AA-6F2D-89CE-F63E-2BAEFDF85F52}"/>
              </a:ext>
            </a:extLst>
          </p:cNvPr>
          <p:cNvSpPr/>
          <p:nvPr/>
        </p:nvSpPr>
        <p:spPr>
          <a:xfrm>
            <a:off x="9670943" y="5933224"/>
            <a:ext cx="2294496" cy="7904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6934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9FE31-B080-6685-FB46-8699BA2B3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2AF80-E5A0-0AB0-818A-8070F29351E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51" imgH="450" progId="TCLayout.ActiveDocument.1">
                  <p:embed/>
                </p:oleObj>
              </mc:Choice>
              <mc:Fallback>
                <p:oleObj name="think-cell Slide" r:id="rId4" imgW="451" imgH="45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2AF80-E5A0-0AB0-818A-8070F29351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B31591-33AA-66FF-E5DE-D50712A64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6427" y="3028797"/>
            <a:ext cx="8647737" cy="836317"/>
          </a:xfrm>
        </p:spPr>
        <p:txBody>
          <a:bodyPr>
            <a:normAutofit fontScale="85000" lnSpcReduction="20000"/>
          </a:bodyPr>
          <a:lstStyle/>
          <a:p>
            <a:endParaRPr lang="en-US" sz="1800" dirty="0"/>
          </a:p>
          <a:p>
            <a:r>
              <a:rPr lang="en-US" sz="1800" dirty="0"/>
              <a:t>02. February 2026 – Practical Data Science</a:t>
            </a:r>
          </a:p>
          <a:p>
            <a:r>
              <a:rPr lang="en-US" sz="1800" dirty="0"/>
              <a:t>Laura </a:t>
            </a:r>
            <a:r>
              <a:rPr lang="en-US" sz="1800" dirty="0" err="1"/>
              <a:t>Hüsam</a:t>
            </a:r>
            <a:r>
              <a:rPr lang="en-US" sz="1800" dirty="0"/>
              <a:t>, Luisa Dosch, Sonia Bronner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E0A355-265D-B0C9-3D3D-03A6BF198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427" y="1943680"/>
            <a:ext cx="10188646" cy="1075178"/>
          </a:xfrm>
        </p:spPr>
        <p:txBody>
          <a:bodyPr vert="horz">
            <a:noAutofit/>
          </a:bodyPr>
          <a:lstStyle/>
          <a:p>
            <a:r>
              <a:rPr lang="en-US">
                <a:solidFill>
                  <a:schemeClr val="accent5">
                    <a:lumMod val="50000"/>
                  </a:schemeClr>
                </a:solidFill>
                <a:latin typeface="Arial"/>
                <a:cs typeface="Arial"/>
              </a:rPr>
              <a:t>Thank you!</a:t>
            </a:r>
            <a:br>
              <a:rPr lang="de-DE"/>
            </a:br>
            <a:endParaRPr lang="en-US">
              <a:solidFill>
                <a:schemeClr val="accent5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B43CF7F-A303-B78F-31F1-FB794D4E3D38}"/>
              </a:ext>
            </a:extLst>
          </p:cNvPr>
          <p:cNvSpPr/>
          <p:nvPr/>
        </p:nvSpPr>
        <p:spPr>
          <a:xfrm>
            <a:off x="9717437" y="263472"/>
            <a:ext cx="2294496" cy="7904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63826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&lt;ee4p&gt;&lt;layouts&gt;&lt;layout name=&quot;Box Circle&quot; id=&quot;1_5&quot;&gt;&lt;standard&gt;&lt;textframe horizontalAnchor=&quot;1&quot; marginBottom=&quot;10&quot; marginLeft=&quot;0&quot; marginRight=&quot;0&quot; marginTop=&quot;10&quot; orientation=&quot;1&quot; verticalAnchor=&quot;1&quot; /&gt;&lt;font name=&quot;&quot; bold=&quot;0&quot; italic=&quot;0&quot; color=&quot;13&quot; /&gt;&lt;paragraphformat firstLineIndent=&quot;0&quot; leftIndent=&quot;0&quot; rightIndent=&quot;0&quot; lineRuleBefore=&quot;&quot; lineRuleWithin=&quot;&quot; lineRuleAfter=&quot;&quot; spaceBefore=&quot;&quot; spaceWithin=&quot;&quot; spaceAfter=&quot;&quot; /&gt;&lt;fill visible=&quot;0&quot; /&gt;&lt;line visible=&quot;0&quot; /&gt;&lt;bulletformat visible=&quot;0&quot; /&gt;&lt;/standard&gt;&lt;agenda name=&quot;New Agenda&quot; title=&quot;Agenda&quot; subtitle=&quot;&quot; sizingModeId=&quot;2&quot; fontSize=&quot;16&quot; fontSizeAuto=&quot;1&quot; startTime=&quot;540&quot; timeFormatId=&quot;1&quot; startItemNo=&quot;1&quot; createSingleAgendaSlide=&quot;1&quot; createSeparatingSlides=&quot;1&quot; createBackupSlide=&quot;1&quot; /&gt;&lt;columns&gt;&lt;column field=&quot;itemno&quot; label=&quot;No.&quot; checked=&quot;1&quot; leftSpacing=&quot;0&quot; rightSpacing=&quot;0&quot; dock=&quot;1&quot; fixedWidth=&quot;39.58284&quot; /&gt;&lt;column field=&quot;topic&quot; label=&quot;Topic&quot; leftSpacing=&quot;5&quot; rightDistribute=&quot;1&quot; dock=&quot;1&quot; /&gt;&lt;column field=&quot;responsible&quot; label=&quot;Responsible&quot; visible=&quot;1&quot; checked=&quot;1&quot; leftSpacing=&quot;10&quot; rightDistribute=&quot;1&quot; dock=&quot;1&quot; /&gt;&lt;column field=&quot;freecolumn&quot; label=&quot;&quot; visible=&quot;1&quot; checked=&quot;0&quot; leftSpacing=&quot;10&quot; rightDistribute=&quot;1&quot; dock=&quot;1&quot; /&gt;&lt;column field=&quot;timeslot&quot; label=&quot;Time Slot&quot; visible=&quot;1&quot; checked=&quot;1&quot; leftSpacing=&quot;10&quot; rightSpacing=&quot;6&quot; dock=&quot;2&quot; /&gt;&lt;column field=&quot;pageno&quot; label=&quot;Page No.&quot; visible=&quot;1&quot; checked=&quot;0&quot; leftSpacing=&quot;10&quot; rightSpacing=&quot;6&quot; dock=&quot;2&quot; /&gt;&lt;/columns&gt;&lt;position left=&quot;31.12504&quot; top=&quot;133.875&quot; width=&quot;657.75&quot; height=&quot;351.625&quot; /&gt;&lt;!--&#10;      &lt;subtitle&gt;&#10;        &lt;position left=&quot;31.25&quot; top=&quot;92.00031&quot; width=&quot;657.75&quot; height=&quot;19.25&quot;/&gt;&#10;        &lt;font size=&quot;16&quot;/&gt;&#10;        &lt;textframe marginBottom=&quot;0&quot; marginTop=&quot;0&quot;/&gt;&#10;        &lt;paragraphformat alignment=&quot;1&quot;/&gt;&#10;      &lt;/subtitle&gt;&#10;   --&gt;&lt;settings allowedSizingModeIds=&quot;1|2&quot; allowedFontSizes=&quot;8|9|10.5|11|12|14|16|18&quot; allowedTimeFormatIds=&quot;1|2|3&quot; slideLayout=&quot;11&quot; customLayoutName=&quot;Nur Titel|Title Only&quot; customLayoutIndex=&quot;&quot; showBreak=&quot;1&quot; singleAgendaSlideSelected=&quot;0&quot; backupSlideTitle=&quot;Backup: %agendaName%&quot; topMargin=&quot;0&quot; leftMargin=&quot;0&quot; allowedLevels=&quot;4&quot; itemNoFormats=&quot;{1}¦{1}.{2}¦{3:alphaLC}¦{3:alphaLC}.{4:alphaLC}&quot; /&gt;&lt;!-- Agenda item formats --&gt;&lt;cases&gt;&lt;case level=&quot;1&quot; selected=&quot;0&quot; break=&quot;0&quot; topMinSpacing=&quot;5&quot; topMaxSpacing=&quot;5&quot; bottomMinSpacing=&quot;0&quot; bottomMaxSpacing=&quot;0&quot;&gt;&lt;element field=&quot;itemno&quot; type=&quot;autoshape&quot; autoShapeType=&quot;9&quot; indent=&quot;(level-1)*44.58284*scale*fontScale&quot; indentType=&quot;1&quot;&gt;&lt;position height=&quot;itemSingleHeight&quot; top=&quot;(itemHeight-itemSingleHeight)/2&quot; /&gt;&lt;textframe marginLeft=&quot;6&quot; marginRight=&quot;6&quot; verticalAnchor=&quot;3&quot; /&gt;&lt;paragraphformat alignment=&quot;2&quot; /&gt;&lt;fill foreColor=&quot;5&quot; visible=&quot;1&quot; /&gt;&lt;line foreColor=&quot;#ffffff&quot; visible=&quot;1&quot; weight=&quot;4&quot; /&gt;&lt;font bold=&quot;1&quot; color=&quot;2&quot; /&gt;&lt;/element&gt;&lt;element field=&quot;topic&quot; type=&quot;autoshape&quot; autoShapeType=&quot;1&quot; indent=&quot;(level-1)*44.58284*scale*fontScale&quot; indentType=&quot;2&quot;&gt;&lt;paragraphformat alignment=&quot;1&quot; /&gt;&lt;textframe marginLeft=&quot;6&quot; /&gt;&lt;font bold=&quot;1&quot; /&gt;&lt;/element&gt;&lt;element field=&quot;responsible&quot; type=&quot;autoshape&quot; autoShapeType=&quot;1&quot; indent=&quot;(level-1)*44.58284*scale*fontScale&quot; indentType=&quot;1&quot;&gt;&lt;paragraphformat alignment=&quot;1&quot; /&gt;&lt;/element&gt;&lt;element field=&quot;freecolumn&quot; type=&quot;autoshape&quot; autoShapeType=&quot;1&quot; indent=&quot;(level-1)*44.58284*scale*fontScale&quot; indentType=&quot;1&quot;&gt;&lt;paragraphformat alignment=&quot;1&quot; /&gt;&lt;/element&gt;&lt;element field=&quot;timeslot&quot; type=&quot;autoshape&quot; autoShapeType=&quot;1&quot;&gt;&lt;paragraphformat alignment=&quot;1&quot; /&gt;&lt;/element&gt;&lt;element field=&quot;pageno&quot; type=&quot;autoshape&quot; autoShapeType=&quot;1&quot;&gt;&lt;paragraphformat alignment=&quot;3&quot; /&gt;&lt;/element&gt;&lt;/case&gt;&lt;case level=&quot;1&quot; selected=&quot;1&quot; break=&quot;0&quot; topMinSpacing=&quot;5&quot; topMaxSpacing=&quot;5&quot; bottomMinSpacing=&quot;0&quot; bottomMaxSpacing=&quot;0&quot;&gt;&lt;element type=&quot;autoshape&quot; autoShapeType=&quot;1&quot; value=&quot;&quot;&gt;&lt;position left=&quot;((level-0.5)*39.58284+(level-1)*5)*scale*fontScale&quot; top=&quot;0&quot; width=&quot;agendaWidth-(((level-0.5)*39.58284+(level-1)*5)*scale*fontScale)&quot; height=&quot;itemHeight&quot; /&gt;&lt;fill foreColor=&quot;#D9D9D9&quot; visible=&quot;1&quot; /&gt;&lt;/element&gt;&lt;element field=&quot;itemno&quot; type=&quot;autoshape&quot; autoShapeType=&quot;9&quot; indent=&quot;(level-1)*44.58284*scale*fontScale&quot; indentType=&quot;1&quot;&gt;&lt;position height=&quot;itemSingleHeight&quot; top=&quot;(itemHeight-itemSingleHeight)/2&quot; /&gt;&lt;textframe marginLeft=&quot;6&quot; marginRight=&quot;6&quot; verticalAnchor=&quot;3&quot; /&gt;&lt;paragraphformat alignment=&quot;2&quot; /&gt;&lt;fill foreColor=&quot;5&quot; visible=&quot;1&quot; /&gt;&lt;line foreColor=&quot;#ffffff&quot; visible=&quot;1&quot; weight=&quot;4&quot; /&gt;&lt;font bold=&quot;1&quot; color=&quot;2&quot; /&gt;&lt;/element&gt;&lt;element field=&quot;topic&quot; type=&quot;autoshape&quot; autoShapeType=&quot;1&quot; indent=&quot;(level-1)*44.58284*scale*fontScale&quot; indentType=&quot;2&quot;&gt;&lt;paragraphformat alignment=&quot;1&quot; /&gt;&lt;font bold=&quot;1&quot; /&gt;&lt;textframe marginLeft=&quot;6&quot; /&gt;&lt;/element&gt;&lt;element field=&quot;responsible&quot; type=&quot;autoshape&quot; autoShapeType=&quot;1&quot; indent=&quot;(level-1)*44.58284*scale*fontScale&quot; indentType=&quot;1&quot;&gt;&lt;paragraphformat alignment=&quot;1&quot; /&gt;&lt;/element&gt;&lt;element field=&quot;freecolumn&quot; type=&quot;autoshape&quot; autoShapeType=&quot;1&quot; indent=&quot;(level-1)*44.58284*scale*fontScale&quot; indentType=&quot;1&quot;&gt;&lt;paragraphformat alignment=&quot;1&quot; /&gt;&lt;/element&gt;&lt;element field=&quot;timeslot&quot; type=&quot;autoshape&quot; autoShapeType=&quot;1&quot;&gt;&lt;paragraphformat alignment=&quot;1&quot; /&gt;&lt;/element&gt;&lt;element field=&quot;pageno&quot; type=&quot;autoshape&quot; autoShapeType=&quot;1&quot;&gt;&lt;paragraphformat alignment=&quot;3&quot; /&gt;&lt;/element&gt;&lt;/case&gt;&lt;case level=&quot;1&quot; selected=&quot;0&quot; break=&quot;1&quot; topMinSpacing=&quot;5&quot; topMaxSpacing=&quot;5&quot; bottomMinSpacing=&quot;0&quot; bottomMaxSpacing=&quot;0&quot;&gt;&lt;element field=&quot;itemno&quot; type=&quot;autoshape&quot; autoShapeType=&quot;9&quot; indent=&quot;(level-1)*44.58284*scale*fontScale&quot; indentType=&quot;1&quot;&gt;&lt;position height=&quot;itemSingleHeight&quot; top=&quot;(itemHeight-itemSingleHeight)/2&quot; /&gt;&lt;textframe marginLeft=&quot;6&quot; marginRight=&quot;6&quot; verticalAnchor=&quot;3&quot; /&gt;&lt;paragraphformat alignment=&quot;2&quot; /&gt;&lt;fill foreColor=&quot;5&quot; visible=&quot;1&quot; /&gt;&lt;line foreColor=&quot;#ffffff&quot; visible=&quot;1&quot; weight=&quot;4&quot; /&gt;&lt;font bold=&quot;1&quot; color=&quot;2&quot; /&gt;&lt;/element&gt;&lt;element field=&quot;topic&quot; type=&quot;autoshape&quot; autoShapeType=&quot;1&quot; indent=&quot;(level-1)*44.58284*scale*fontScale&quot; indentType=&quot;2&quot;&gt;&lt;paragraphformat alignment=&quot;1&quot; /&gt;&lt;textframe marginLeft=&quot;6&quot; /&gt;&lt;font bold=&quot;1&quot; italic=&quot;1&quot; /&gt;&lt;/element&gt;&lt;element field=&quot;responsible&quot; type=&quot;autoshape&quot; autoShapeType=&quot;1&quot; indent=&quot;(level-1)*44.58284*scale*fontScale&quot; indentType=&quot;1&quot;&gt;&lt;paragraphformat alignment=&quot;1&quot; /&gt;&lt;font italic=&quot;1&quot; /&gt;&lt;/element&gt;&lt;element field=&quot;freecolumn&quot; type=&quot;autoshape&quot; autoShapeType=&quot;1&quot; indent=&quot;(level-1)*44.58284*scale*fontScale&quot; indentType=&quot;1&quot;&gt;&lt;paragraphformat alignment=&quot;1&quot; /&gt;&lt;font italic=&quot;1&quot; /&gt;&lt;/element&gt;&lt;element field=&quot;timeslot&quot; type=&quot;autoshape&quot; autoShapeType=&quot;1&quot;&gt;&lt;paragraphformat alignment=&quot;1&quot; /&gt;&lt;font italic=&quot;1&quot; /&gt;&lt;/element&gt;&lt;element field=&quot;pageno&quot; type=&quot;autoshape&quot; autoShapeType=&quot;1&quot;&gt;&lt;paragraphformat alignment=&quot;3&quot; /&gt;&lt;font italic=&quot;1&quot; /&gt;&lt;/element&gt;&lt;/case&gt;&lt;case level=&quot;1&quot; selected=&quot;1&quot; break=&quot;1&quot; topMinSpacing=&quot;5&quot; topMaxSpacing=&quot;5&quot; bottomMinSpacing=&quot;0&quot; bottomMaxSpacing=&quot;0&quot;&gt;&lt;element field=&quot;itemno&quot; type=&quot;autoshape&quot; autoShapeType=&quot;9&quot; indent=&quot;(level-1)*44.58284*scale*fontScale&quot; indentType=&quot;1&quot;&gt;&lt;position height=&quot;itemSingleHeight&quot; top=&quot;(itemHeight-itemSingleHeight)/2&quot; /&gt;&lt;textframe marginLeft=&quot;6&quot; marginRight=&quot;6&quot; verticalAnchor=&quot;3&quot; /&gt;&lt;paragraphformat alignment=&quot;2&quot; /&gt;&lt;fill foreColor=&quot;5&quot; visible=&quot;1&quot; /&gt;&lt;line foreColor=&quot;#ffffff&quot; visible=&quot;1&quot; weight=&quot;4&quot; /&gt;&lt;font bold=&quot;1&quot; color=&quot;2&quot; /&gt;&lt;/element&gt;&lt;element type=&quot;autoshape&quot; autoShapeType=&quot;1&quot; value=&quot;&quot;&gt;&lt;position left=&quot;((level-0.5)*39.58284+(level-1)*5)*scale*fontScale&quot; top=&quot;0&quot; width=&quot;agendaWidth-(((level-0.5)*39.58284+(level-1)*5)*scale*fontScale)&quot; height=&quot;itemHeight&quot; /&gt;&lt;fill foreColor=&quot;#D9D9D9&quot; visible=&quot;1&quot; /&gt;&lt;/element&gt;&lt;element field=&quot;topic&quot; type=&quot;autoshape&quot; autoShapeType=&quot;1&quot; indent=&quot;(level-1)*44.58284*scale*fontScale&quot; indentType=&quot;2&quot;&gt;&lt;paragraphformat alignment=&quot;1&quot; /&gt;&lt;font bold=&quot;1&quot; italic=&quot;1&quot; /&gt;&lt;textframe marginLeft=&quot;6&quot; /&gt;&lt;/element&gt;&lt;element field=&quot;responsible&quot; type=&quot;autoshape&quot; autoShapeType=&quot;1&quot; indent=&quot;(level-1)*44.58284*scale*fontScale&quot; indentType=&quot;1&quot;&gt;&lt;paragraphformat alignment=&quot;1&quot; /&gt;&lt;font italic=&quot;1&quot; /&gt;&lt;/element&gt;&lt;element field=&quot;freecolumn&quot; type=&quot;autoshape&quot; autoShapeType=&quot;1&quot; indent=&quot;(level-1)*44.58284*scale*fontScale&quot; indentType=&quot;1&quot;&gt;&lt;paragraphformat alignment=&quot;1&quot; /&gt;&lt;font italic=&quot;1&quot; /&gt;&lt;/element&gt;&lt;element field=&quot;timeslot&quot; type=&quot;autoshape&quot; autoShapeType=&quot;1&quot;&gt;&lt;paragraphformat alignment=&quot;1&quot; /&gt;&lt;font italic=&quot;1&quot; /&gt;&lt;/element&gt;&lt;element field=&quot;pageno&quot; type=&quot;autoshape&quot; autoShapeType=&quot;1&quot;&gt;&lt;paragraphformat alignment=&quot;3&quot; /&gt;&lt;font italic=&quot;1&quot; /&gt;&lt;/element&gt;&lt;/case&gt;&lt;/cases&gt;&lt;!-- Elements on slide independent of items --&gt;&lt;elements&gt;&lt;!--&#10;        &lt;element type=&quot;textbox&quot; zOrder=&quot;1&quot; value=&quot;test&quot;&gt;&#10;          &lt;position left=&quot;0&quot; top=&quot;0&quot; width=&quot;30&quot; height=&quot;30&quot;/&gt;&#10;        &lt;/element&gt;&#10;      --&gt;&lt;/elements&gt;&lt;/layout&gt;&lt;/layouts&gt;&lt;contents&gt;&lt;agenda name=&quot;New Agenda&quot; title=&quot;Agenda&quot; subtitle=&quot;&quot; sizingModeId=&quot;2&quot; fontSize=&quot;18&quot; fontSizeAuto=&quot;0&quot; startTime=&quot;540&quot; timeFormatId=&quot;1&quot; startItemNo=&quot;1&quot; createSingleAgendaSlide=&quot;1&quot; createSeparatingSlides=&quot;1&quot; createBackupSlide=&quot;0&quot; layoutId=&quot;1_5&quot; createSections=&quot;0&quot; singleSlideId=&quot;1f41c5e8-cc5f-465b-9715-aa8b127e79b7&quot;&gt;&lt;columns&gt;&lt;column field=&quot;itemno&quot; label=&quot;No.&quot; checked=&quot;1&quot; leftSpacing=&quot;0&quot; rightSpacing=&quot;0&quot; dock=&quot;1&quot; fixedWidth=&quot;31.50472&quot; /&gt;&lt;column field=&quot;topic&quot; label=&quot;Topic&quot; leftSpacing=&quot;5.625&quot; rightDistribute=&quot;1&quot; dock=&quot;1&quot; rightSpacing=&quot;598.7515&quot; /&gt;&lt;column field=&quot;responsible&quot; label=&quot;Responsible&quot; visible=&quot;1&quot; checked=&quot;0&quot; leftSpacing=&quot;10&quot; rightDistribute=&quot;1&quot; dock=&quot;1&quot; /&gt;&lt;column field=&quot;freecolumn&quot; label=&quot;&quot; visible=&quot;1&quot; checked=&quot;0&quot; leftSpacing=&quot;10&quot; rightDistribute=&quot;1&quot; dock=&quot;1&quot; /&gt;&lt;column field=&quot;timeslot&quot; label=&quot;Time Slot&quot; visible=&quot;1&quot; checked=&quot;0&quot; leftSpacing=&quot;10&quot; rightSpacing=&quot;6&quot; dock=&quot;2&quot; /&gt;&lt;column field=&quot;pageno&quot; label=&quot;Page No.&quot; visible=&quot;1&quot; checked=&quot;0&quot; leftSpacing=&quot;10&quot; rightSpacing=&quot;6&quot; dock=&quot;2&quot; /&gt;&lt;/columns&gt;&lt;items&gt;&lt;item duration=&quot;30&quot; id=&quot;fd7ab121-4911-4bfd-8c57-08af70dd2909&quot; parentId=&quot;&quot; level=&quot;1&quot; generateAgendaSlide=&quot;1&quot; showAgendaItem=&quot;1&quot; isBreak=&quot;0&quot; topic=&quot;Introduction&quot; agendaSlideId=&quot;a53e7d98-fb91-4b4a-868c-b4530f29ac09&quot; /&gt;&lt;item duration=&quot;30&quot; id=&quot;ca0844e6-7e3b-4da0-b6c5-e35c240dcdd5&quot; parentId=&quot;&quot; level=&quot;1&quot; generateAgendaSlide=&quot;1&quot; showAgendaItem=&quot;1&quot; isBreak=&quot;0&quot; topic=&quot;Single-Period AP&quot; agendaSlideId=&quot;54b181dd-779d-49ad-b71c-0d824b6ce194&quot; /&gt;&lt;item duration=&quot;30&quot; id=&quot;1e702326-10fe-4b99-ba04-e5662a6bd883&quot; parentId=&quot;&quot; level=&quot;1&quot; generateAgendaSlide=&quot;1&quot; showAgendaItem=&quot;1&quot; isBreak=&quot;0&quot; topic=&quot;Multi-Period AP&quot; agendaSlideId=&quot;faf510b7-6381-4404-857e-6f6ee3fa88b1&quot; /&gt;&lt;item duration=&quot;30&quot; id=&quot;d34aea87-ba1a-49f9-89bb-fdc2f857c370&quot; parentId=&quot;1e702326-10fe-4b99-ba04-e5662a6bd883&quot; level=&quot;2&quot; generateAgendaSlide=&quot;1&quot; showAgendaItem=&quot;1&quot; isBreak=&quot;0&quot; topic=&quot;Central&quot; agendaSlideId=&quot;08fb5709-0044-4c6a-81aa-736073dc1175&quot; /&gt;&lt;item duration=&quot;30&quot; id=&quot;484bda1e-e480-4c7c-a1b6-f7f164a9cf77&quot; parentId=&quot;1e702326-10fe-4b99-ba04-e5662a6bd883&quot; level=&quot;2&quot; generateAgendaSlide=&quot;1&quot; showAgendaItem=&quot;1&quot; isBreak=&quot;0&quot; topic=&quot;Hierarchical&quot; agendaSlideId=&quot;e02b615d-bcd9-4e9c-a1aa-80a0cf965139&quot; /&gt;&lt;item duration=&quot;30&quot; id=&quot;fdd4148a-7990-4159-a54e-7a964b8f1997&quot; parentId=&quot;&quot; level=&quot;1&quot; generateAgendaSlide=&quot;1&quot; showAgendaItem=&quot;1&quot; isBreak=&quot;0&quot; topic=&quot;Conclusion&quot; agendaSlideId=&quot;5650935f-7705-4ee6-a20a-f548c292d795&quot; /&gt;&lt;/items&gt;&lt;/agenda&gt;&lt;/contents&gt;&lt;/ee4p&gt;"/>
  <p:tag name="BLUEONEFOURTHTITLEFONTCOLORFIXED" val="true"/>
  <p:tag name="NEWLAYOUTNAMES" val="true"/>
  <p:tag name="TEMPLATECREATED" val="2019-08-14 11:17 "/>
  <p:tag name="TSCLIENT" val="True"/>
  <p:tag name="THINKCELLUNDODONOTDELETE" val="0"/>
  <p:tag name="TEMPLATELASTEDITED" val="2022-09-29 01:23 "/>
  <p:tag name="EE4P_STYLE_ID" val="6cd991bf-f022-4378-96e7-2c338aeb3f5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FjT7lWsx_XTN0LGQyAI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GREAAg4kpk.LOLxybiiY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GREAAg4kpk.LOLxybiiY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cJOrci7GjNi3xE2_wtz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cJOrci7GjNi3xE2_wtz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fknT1WtEH0TJyAzoq2Q2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fknT1WtEH0TJyAzoq2Q2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fknT1WtEH0TJyAzoq2Q2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3">
  <a:themeElements>
    <a:clrScheme name="Benutzerdefiniert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4389"/>
      </a:accent1>
      <a:accent2>
        <a:srgbClr val="ED7D31"/>
      </a:accent2>
      <a:accent3>
        <a:srgbClr val="A5A5A5"/>
      </a:accent3>
      <a:accent4>
        <a:srgbClr val="65B2FF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ata Driven Decisions (D3) Group – PPT Master.potx" id="{4F7075DE-C90C-4103-BFCB-1D0BB0118F3F}" vid="{64B19453-F15C-4A18-978D-2E59CF8B6D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f2cc25d-16f8-46aa-9398-56e1ec149ec8">
      <Terms xmlns="http://schemas.microsoft.com/office/infopath/2007/PartnerControls"/>
    </lcf76f155ced4ddcb4097134ff3c332f>
    <TaxCatchAll xmlns="9e12f0db-faa5-412b-831b-19878ee2110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50C264927971D4EADEDAF2A07FFB708" ma:contentTypeVersion="15" ma:contentTypeDescription="Ein neues Dokument erstellen." ma:contentTypeScope="" ma:versionID="a6b3c6616ea679c3d096ff9e818d7263">
  <xsd:schema xmlns:xsd="http://www.w3.org/2001/XMLSchema" xmlns:xs="http://www.w3.org/2001/XMLSchema" xmlns:p="http://schemas.microsoft.com/office/2006/metadata/properties" xmlns:ns2="cf2cc25d-16f8-46aa-9398-56e1ec149ec8" xmlns:ns3="9e12f0db-faa5-412b-831b-19878ee21107" targetNamespace="http://schemas.microsoft.com/office/2006/metadata/properties" ma:root="true" ma:fieldsID="120a0283b55a6ef14a5598d4e19bb4fe" ns2:_="" ns3:_="">
    <xsd:import namespace="cf2cc25d-16f8-46aa-9398-56e1ec149ec8"/>
    <xsd:import namespace="9e12f0db-faa5-412b-831b-19878ee2110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2cc25d-16f8-46aa-9398-56e1ec149ec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Bildmarkierungen" ma:readOnly="false" ma:fieldId="{5cf76f15-5ced-4ddc-b409-7134ff3c332f}" ma:taxonomyMulti="true" ma:sspId="638e253e-2608-47e9-b33a-dfa3347cdc3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2f0db-faa5-412b-831b-19878ee2110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169cbe5b-f85e-4140-8054-2ee831736caf}" ma:internalName="TaxCatchAll" ma:showField="CatchAllData" ma:web="9e12f0db-faa5-412b-831b-19878ee2110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FFAB75-771C-4D54-9A5E-092304E39B7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B79EF80-4CC8-41A6-9DD2-CA80FBB8B680}">
  <ds:schemaRefs>
    <ds:schemaRef ds:uri="http://schemas.microsoft.com/office/2006/documentManagement/types"/>
    <ds:schemaRef ds:uri="http://schemas.microsoft.com/office/2006/metadata/properties"/>
    <ds:schemaRef ds:uri="http://www.w3.org/XML/1998/namespace"/>
    <ds:schemaRef ds:uri="cf2cc25d-16f8-46aa-9398-56e1ec149ec8"/>
    <ds:schemaRef ds:uri="http://schemas.microsoft.com/office/infopath/2007/PartnerControls"/>
    <ds:schemaRef ds:uri="9e12f0db-faa5-412b-831b-19878ee21107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019F0EA-39D7-4253-92FC-7CAEB67120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2cc25d-16f8-46aa-9398-56e1ec149ec8"/>
    <ds:schemaRef ds:uri="9e12f0db-faa5-412b-831b-19878ee211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D3</Template>
  <TotalTime>0</TotalTime>
  <Words>196</Words>
  <Application>Microsoft Macintosh PowerPoint</Application>
  <PresentationFormat>Breitbild</PresentationFormat>
  <Paragraphs>55</Paragraphs>
  <Slides>8</Slides>
  <Notes>5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6" baseType="lpstr">
      <vt:lpstr>-apple-system</vt:lpstr>
      <vt:lpstr>Arial</vt:lpstr>
      <vt:lpstr>Calibri</vt:lpstr>
      <vt:lpstr>Helvetica Neue</vt:lpstr>
      <vt:lpstr>Symbol</vt:lpstr>
      <vt:lpstr>Wingdings</vt:lpstr>
      <vt:lpstr>D3</vt:lpstr>
      <vt:lpstr>think-cell Slide</vt:lpstr>
      <vt:lpstr> Capstone Project: Predicting Career Domain and Seniority from LinkedIn Profiles </vt:lpstr>
      <vt:lpstr>Seniority Data</vt:lpstr>
      <vt:lpstr>Department Data</vt:lpstr>
      <vt:lpstr>Our Approaches</vt:lpstr>
      <vt:lpstr>Experiments</vt:lpstr>
      <vt:lpstr>Dashboard</vt:lpstr>
      <vt:lpstr>Conclusion</vt:lpstr>
      <vt:lpstr>Thank you!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Driven Decisions (D3) Group – PPT Master</dc:title>
  <dc:subject/>
  <dc:creator>Magnus Josef Maichle</dc:creator>
  <cp:keywords/>
  <dc:description/>
  <cp:lastModifiedBy>Luisa Dosch</cp:lastModifiedBy>
  <cp:revision>233</cp:revision>
  <dcterms:created xsi:type="dcterms:W3CDTF">2022-09-29T13:22:31Z</dcterms:created>
  <dcterms:modified xsi:type="dcterms:W3CDTF">2026-02-03T09:08:57Z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LastEdited">
    <vt:lpwstr>2022-09-29 01:23 </vt:lpwstr>
  </property>
  <property fmtid="{D5CDD505-2E9C-101B-9397-08002B2CF9AE}" pid="3" name="ContentTypeId">
    <vt:lpwstr>0x010100D50C264927971D4EADEDAF2A07FFB708</vt:lpwstr>
  </property>
  <property fmtid="{D5CDD505-2E9C-101B-9397-08002B2CF9AE}" pid="4" name="MediaServiceImageTags">
    <vt:lpwstr/>
  </property>
</Properties>
</file>